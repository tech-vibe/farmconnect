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C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5400" b="1">
                <a:solidFill>
                  <a:srgbClr val="FFFFFF"/>
                </a:solidFill>
                <a:latin typeface="Calibri"/>
              </a:defRPr>
            </a:pPr>
            <a:r>
              <a:t>FarmConnect</a:t>
            </a:r>
          </a:p>
        </p:txBody>
      </p:sp>
      <p:sp>
        <p:nvSpPr>
          <p:cNvPr id="4" name="TextBox 3"/>
          <p:cNvSpPr txBox="1"/>
          <p:nvPr/>
        </p:nvSpPr>
        <p:spPr>
          <a:xfrm>
            <a:off x="1371600" y="2743200"/>
            <a:ext cx="9144000" cy="731520"/>
          </a:xfrm>
          <a:prstGeom prst="rect">
            <a:avLst/>
          </a:prstGeom>
          <a:noFill/>
        </p:spPr>
        <p:txBody>
          <a:bodyPr wrap="square">
            <a:spAutoFit/>
          </a:bodyPr>
          <a:lstStyle/>
          <a:p>
            <a:pPr algn="ctr">
              <a:defRPr sz="2400" b="0">
                <a:solidFill>
                  <a:srgbClr val="BBF7D0"/>
                </a:solidFill>
                <a:latin typeface="Calibri"/>
              </a:defRPr>
            </a:pPr>
            <a:r>
              <a:t>Empowering Indian Farmers with Local Resources &amp; AI</a:t>
            </a:r>
          </a:p>
        </p:txBody>
      </p:sp>
      <p:sp>
        <p:nvSpPr>
          <p:cNvPr id="5" name="Rectangle 4"/>
          <p:cNvSpPr/>
          <p:nvPr/>
        </p:nvSpPr>
        <p:spPr>
          <a:xfrm>
            <a:off x="5029200" y="3657600"/>
            <a:ext cx="2103120" cy="25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931920"/>
            <a:ext cx="10058400" cy="548640"/>
          </a:xfrm>
          <a:prstGeom prst="rect">
            <a:avLst/>
          </a:prstGeom>
          <a:noFill/>
        </p:spPr>
        <p:txBody>
          <a:bodyPr wrap="square">
            <a:spAutoFit/>
          </a:bodyPr>
          <a:lstStyle/>
          <a:p>
            <a:pPr algn="ctr">
              <a:defRPr sz="2000" b="0">
                <a:solidFill>
                  <a:srgbClr val="A7F3D0"/>
                </a:solidFill>
                <a:latin typeface="Calibri"/>
              </a:defRPr>
            </a:pPr>
            <a:r>
              <a:t>Team: Tech-Vibe</a:t>
            </a:r>
          </a:p>
        </p:txBody>
      </p:sp>
      <p:sp>
        <p:nvSpPr>
          <p:cNvPr id="7" name="TextBox 6"/>
          <p:cNvSpPr txBox="1"/>
          <p:nvPr/>
        </p:nvSpPr>
        <p:spPr>
          <a:xfrm>
            <a:off x="914400" y="5029200"/>
            <a:ext cx="10058400" cy="731520"/>
          </a:xfrm>
          <a:prstGeom prst="rect">
            <a:avLst/>
          </a:prstGeom>
          <a:noFill/>
        </p:spPr>
        <p:txBody>
          <a:bodyPr wrap="square">
            <a:spAutoFit/>
          </a:bodyPr>
          <a:lstStyle/>
          <a:p>
            <a:pPr algn="ctr">
              <a:defRPr sz="1600" b="0">
                <a:solidFill>
                  <a:srgbClr val="86EFAC"/>
                </a:solidFill>
                <a:latin typeface="Calibri"/>
              </a:defRPr>
            </a:pPr>
            <a:r>
              <a:t>A unified platform connecting farmers to equipment, labor &amp; government schemes</a:t>
            </a:r>
          </a:p>
        </p:txBody>
      </p:sp>
      <p:sp>
        <p:nvSpPr>
          <p:cNvPr id="8" name="Rectangle 7"/>
          <p:cNvSpPr/>
          <p:nvPr/>
        </p:nvSpPr>
        <p:spPr>
          <a:xfrm>
            <a:off x="0" y="6803136"/>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1A5C2E"/>
                </a:solidFill>
                <a:latin typeface="Calibri"/>
              </a:defRPr>
            </a:pPr>
            <a:r>
              <a:t>Problem Statement</a:t>
            </a:r>
          </a:p>
        </p:txBody>
      </p:sp>
      <p:sp>
        <p:nvSpPr>
          <p:cNvPr id="4" name="TextBox 3"/>
          <p:cNvSpPr txBox="1"/>
          <p:nvPr/>
        </p:nvSpPr>
        <p:spPr>
          <a:xfrm>
            <a:off x="731520" y="1005840"/>
            <a:ext cx="10058400" cy="457200"/>
          </a:xfrm>
          <a:prstGeom prst="rect">
            <a:avLst/>
          </a:prstGeom>
          <a:noFill/>
        </p:spPr>
        <p:txBody>
          <a:bodyPr wrap="square">
            <a:spAutoFit/>
          </a:bodyPr>
          <a:lstStyle/>
          <a:p>
            <a:pPr algn="l">
              <a:defRPr sz="1600" b="0">
                <a:solidFill>
                  <a:srgbClr val="6B7280"/>
                </a:solidFill>
                <a:latin typeface="Calibri"/>
              </a:defRPr>
            </a:pPr>
            <a:r>
              <a:t>Why do Indian farmers struggle to access basic agricultural resources?</a:t>
            </a:r>
          </a:p>
        </p:txBody>
      </p:sp>
      <p:sp>
        <p:nvSpPr>
          <p:cNvPr id="5" name="Rounded Rectangle 4"/>
          <p:cNvSpPr/>
          <p:nvPr/>
        </p:nvSpPr>
        <p:spPr>
          <a:xfrm>
            <a:off x="548640" y="1828800"/>
            <a:ext cx="2651760" cy="420624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17320" y="210312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7" name="TextBox 6"/>
          <p:cNvSpPr txBox="1"/>
          <p:nvPr/>
        </p:nvSpPr>
        <p:spPr>
          <a:xfrm>
            <a:off x="685800" y="3200400"/>
            <a:ext cx="2377440" cy="548640"/>
          </a:xfrm>
          <a:prstGeom prst="rect">
            <a:avLst/>
          </a:prstGeom>
          <a:noFill/>
        </p:spPr>
        <p:txBody>
          <a:bodyPr wrap="square">
            <a:spAutoFit/>
          </a:bodyPr>
          <a:lstStyle/>
          <a:p>
            <a:pPr algn="ctr">
              <a:defRPr sz="1800" b="1">
                <a:solidFill>
                  <a:srgbClr val="1A1A2E"/>
                </a:solidFill>
                <a:latin typeface="Calibri"/>
              </a:defRPr>
            </a:pPr>
            <a:r>
              <a:t>High Equipment Costs</a:t>
            </a:r>
          </a:p>
        </p:txBody>
      </p:sp>
      <p:sp>
        <p:nvSpPr>
          <p:cNvPr id="8" name="TextBox 7"/>
          <p:cNvSpPr txBox="1"/>
          <p:nvPr/>
        </p:nvSpPr>
        <p:spPr>
          <a:xfrm>
            <a:off x="685800" y="3840480"/>
            <a:ext cx="2377440" cy="1828800"/>
          </a:xfrm>
          <a:prstGeom prst="rect">
            <a:avLst/>
          </a:prstGeom>
          <a:noFill/>
        </p:spPr>
        <p:txBody>
          <a:bodyPr wrap="square">
            <a:spAutoFit/>
          </a:bodyPr>
          <a:lstStyle/>
          <a:p>
            <a:pPr algn="ctr">
              <a:defRPr sz="1300" b="0">
                <a:solidFill>
                  <a:srgbClr val="6B7280"/>
                </a:solidFill>
                <a:latin typeface="Calibri"/>
              </a:defRPr>
            </a:pPr>
            <a:r>
              <a:t>86% of Indian farmers are small/marginal.</a:t>
            </a:r>
            <a:br/>
            <a:r>
              <a:t>They cannot afford to buy tractors,</a:t>
            </a:r>
            <a:br/>
            <a:r>
              <a:t>harvesters, or tillers outright.</a:t>
            </a:r>
          </a:p>
        </p:txBody>
      </p:sp>
      <p:sp>
        <p:nvSpPr>
          <p:cNvPr id="9" name="Rounded Rectangle 8"/>
          <p:cNvSpPr/>
          <p:nvPr/>
        </p:nvSpPr>
        <p:spPr>
          <a:xfrm>
            <a:off x="3383280" y="1828800"/>
            <a:ext cx="2651760" cy="420624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51960" y="2103120"/>
            <a:ext cx="914400" cy="9144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1" name="TextBox 10"/>
          <p:cNvSpPr txBox="1"/>
          <p:nvPr/>
        </p:nvSpPr>
        <p:spPr>
          <a:xfrm>
            <a:off x="3520440" y="3200400"/>
            <a:ext cx="2377440" cy="548640"/>
          </a:xfrm>
          <a:prstGeom prst="rect">
            <a:avLst/>
          </a:prstGeom>
          <a:noFill/>
        </p:spPr>
        <p:txBody>
          <a:bodyPr wrap="square">
            <a:spAutoFit/>
          </a:bodyPr>
          <a:lstStyle/>
          <a:p>
            <a:pPr algn="ctr">
              <a:defRPr sz="1800" b="1">
                <a:solidFill>
                  <a:srgbClr val="1A1A2E"/>
                </a:solidFill>
                <a:latin typeface="Calibri"/>
              </a:defRPr>
            </a:pPr>
            <a:r>
              <a:t>Labor Shortages</a:t>
            </a:r>
          </a:p>
        </p:txBody>
      </p:sp>
      <p:sp>
        <p:nvSpPr>
          <p:cNvPr id="12" name="TextBox 11"/>
          <p:cNvSpPr txBox="1"/>
          <p:nvPr/>
        </p:nvSpPr>
        <p:spPr>
          <a:xfrm>
            <a:off x="3520440" y="3840480"/>
            <a:ext cx="2377440" cy="1828800"/>
          </a:xfrm>
          <a:prstGeom prst="rect">
            <a:avLst/>
          </a:prstGeom>
          <a:noFill/>
        </p:spPr>
        <p:txBody>
          <a:bodyPr wrap="square">
            <a:spAutoFit/>
          </a:bodyPr>
          <a:lstStyle/>
          <a:p>
            <a:pPr algn="ctr">
              <a:defRPr sz="1300" b="0">
                <a:solidFill>
                  <a:srgbClr val="6B7280"/>
                </a:solidFill>
                <a:latin typeface="Calibri"/>
              </a:defRPr>
            </a:pPr>
            <a:r>
              <a:t>Finding reliable, skilled farm labor</a:t>
            </a:r>
            <a:br/>
            <a:r>
              <a:t>during peak seasons (sowing, harvest)</a:t>
            </a:r>
            <a:br/>
            <a:r>
              <a:t>is extremely difficult in rural areas.</a:t>
            </a:r>
          </a:p>
        </p:txBody>
      </p:sp>
      <p:sp>
        <p:nvSpPr>
          <p:cNvPr id="13" name="Rounded Rectangle 12"/>
          <p:cNvSpPr/>
          <p:nvPr/>
        </p:nvSpPr>
        <p:spPr>
          <a:xfrm>
            <a:off x="6217920" y="1828800"/>
            <a:ext cx="2651760" cy="420624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86600" y="2103120"/>
            <a:ext cx="914400" cy="9144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5" name="TextBox 14"/>
          <p:cNvSpPr txBox="1"/>
          <p:nvPr/>
        </p:nvSpPr>
        <p:spPr>
          <a:xfrm>
            <a:off x="6355080" y="3200400"/>
            <a:ext cx="2377440" cy="548640"/>
          </a:xfrm>
          <a:prstGeom prst="rect">
            <a:avLst/>
          </a:prstGeom>
          <a:noFill/>
        </p:spPr>
        <p:txBody>
          <a:bodyPr wrap="square">
            <a:spAutoFit/>
          </a:bodyPr>
          <a:lstStyle/>
          <a:p>
            <a:pPr algn="ctr">
              <a:defRPr sz="1800" b="1">
                <a:solidFill>
                  <a:srgbClr val="1A1A2E"/>
                </a:solidFill>
                <a:latin typeface="Calibri"/>
              </a:defRPr>
            </a:pPr>
            <a:r>
              <a:t>Policy Information Gap</a:t>
            </a:r>
          </a:p>
        </p:txBody>
      </p:sp>
      <p:sp>
        <p:nvSpPr>
          <p:cNvPr id="16" name="TextBox 15"/>
          <p:cNvSpPr txBox="1"/>
          <p:nvPr/>
        </p:nvSpPr>
        <p:spPr>
          <a:xfrm>
            <a:off x="6355080" y="3840480"/>
            <a:ext cx="2377440" cy="1828800"/>
          </a:xfrm>
          <a:prstGeom prst="rect">
            <a:avLst/>
          </a:prstGeom>
          <a:noFill/>
        </p:spPr>
        <p:txBody>
          <a:bodyPr wrap="square">
            <a:spAutoFit/>
          </a:bodyPr>
          <a:lstStyle/>
          <a:p>
            <a:pPr algn="ctr">
              <a:defRPr sz="1300" b="0">
                <a:solidFill>
                  <a:srgbClr val="6B7280"/>
                </a:solidFill>
                <a:latin typeface="Calibri"/>
              </a:defRPr>
            </a:pPr>
            <a:r>
              <a:t>Hundreds of central &amp; state schemes exist,</a:t>
            </a:r>
            <a:br/>
            <a:r>
              <a:t>but farmers are unaware of which ones</a:t>
            </a:r>
            <a:br/>
            <a:r>
              <a:t>they actually qualify for.</a:t>
            </a:r>
          </a:p>
        </p:txBody>
      </p:sp>
      <p:sp>
        <p:nvSpPr>
          <p:cNvPr id="17" name="Rounded Rectangle 16"/>
          <p:cNvSpPr/>
          <p:nvPr/>
        </p:nvSpPr>
        <p:spPr>
          <a:xfrm>
            <a:off x="9052560" y="1828800"/>
            <a:ext cx="2651760" cy="420624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921240" y="2103120"/>
            <a:ext cx="914400" cy="9144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9" name="TextBox 18"/>
          <p:cNvSpPr txBox="1"/>
          <p:nvPr/>
        </p:nvSpPr>
        <p:spPr>
          <a:xfrm>
            <a:off x="9189720" y="3200400"/>
            <a:ext cx="2377440" cy="548640"/>
          </a:xfrm>
          <a:prstGeom prst="rect">
            <a:avLst/>
          </a:prstGeom>
          <a:noFill/>
        </p:spPr>
        <p:txBody>
          <a:bodyPr wrap="square">
            <a:spAutoFit/>
          </a:bodyPr>
          <a:lstStyle/>
          <a:p>
            <a:pPr algn="ctr">
              <a:defRPr sz="1800" b="1">
                <a:solidFill>
                  <a:srgbClr val="1A1A2E"/>
                </a:solidFill>
                <a:latin typeface="Calibri"/>
              </a:defRPr>
            </a:pPr>
            <a:r>
              <a:t>Language Barrier</a:t>
            </a:r>
          </a:p>
        </p:txBody>
      </p:sp>
      <p:sp>
        <p:nvSpPr>
          <p:cNvPr id="20" name="TextBox 19"/>
          <p:cNvSpPr txBox="1"/>
          <p:nvPr/>
        </p:nvSpPr>
        <p:spPr>
          <a:xfrm>
            <a:off x="9189720" y="3840480"/>
            <a:ext cx="2377440" cy="1828800"/>
          </a:xfrm>
          <a:prstGeom prst="rect">
            <a:avLst/>
          </a:prstGeom>
          <a:noFill/>
        </p:spPr>
        <p:txBody>
          <a:bodyPr wrap="square">
            <a:spAutoFit/>
          </a:bodyPr>
          <a:lstStyle/>
          <a:p>
            <a:pPr algn="ctr">
              <a:defRPr sz="1300" b="0">
                <a:solidFill>
                  <a:srgbClr val="6B7280"/>
                </a:solidFill>
                <a:latin typeface="Calibri"/>
              </a:defRPr>
            </a:pPr>
            <a:r>
              <a:t>Most agricultural platforms are</a:t>
            </a:r>
            <a:br/>
            <a:r>
              <a:t>English-only, excluding millions</a:t>
            </a:r>
            <a:br/>
            <a:r>
              <a:t>of regional language speakers.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1A5C2E"/>
                </a:solidFill>
                <a:latin typeface="Calibri"/>
              </a:defRPr>
            </a:pPr>
            <a:r>
              <a:t>Project Abstract</a:t>
            </a:r>
          </a:p>
        </p:txBody>
      </p:sp>
      <p:sp>
        <p:nvSpPr>
          <p:cNvPr id="4" name="Rounded Rectangle 3"/>
          <p:cNvSpPr/>
          <p:nvPr/>
        </p:nvSpPr>
        <p:spPr>
          <a:xfrm>
            <a:off x="731520" y="1371600"/>
            <a:ext cx="10698480" cy="2560320"/>
          </a:xfrm>
          <a:prstGeom prst="roundRect">
            <a:avLst/>
          </a:prstGeom>
          <a:solidFill>
            <a:srgbClr val="E8F5E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10058400" cy="2286000"/>
          </a:xfrm>
          <a:prstGeom prst="rect">
            <a:avLst/>
          </a:prstGeom>
          <a:noFill/>
        </p:spPr>
        <p:txBody>
          <a:bodyPr wrap="square">
            <a:spAutoFit/>
          </a:bodyPr>
          <a:lstStyle/>
          <a:p>
            <a:pPr algn="l">
              <a:defRPr sz="1700" b="0">
                <a:solidFill>
                  <a:srgbClr val="1A1A2E"/>
                </a:solidFill>
                <a:latin typeface="Calibri"/>
              </a:defRPr>
            </a:pPr>
            <a:r>
              <a:t>FarmConnect is a role-based web platform that bridges the gap between small/marginal farmers and the resources they need — farm equipment, skilled agricultural labor, and government welfare schemes.</a:t>
            </a:r>
          </a:p>
          <a:p>
            <a:pPr>
              <a:spcBef>
                <a:spcPts val="600"/>
              </a:spcBef>
              <a:defRPr sz="800" b="0">
                <a:solidFill>
                  <a:srgbClr val="1A1A2E"/>
                </a:solidFill>
                <a:latin typeface="Calibri"/>
              </a:defRPr>
            </a:pPr>
          </a:p>
          <a:p>
            <a:pPr>
              <a:spcBef>
                <a:spcPts val="600"/>
              </a:spcBef>
              <a:defRPr sz="1500" b="0">
                <a:solidFill>
                  <a:srgbClr val="6B7280"/>
                </a:solidFill>
                <a:latin typeface="Calibri"/>
              </a:defRPr>
            </a:pPr>
            <a:r>
              <a:t>The platform enables equipment vendors to list idle machinery for rent, agricultural workers to register their skills and availability, and farmers to discover these resources filtered by their city and specific needs. An AI-powered Policy Matcher, driven by Google's Gemini LLM, analyzes each farmer's crop type, land size, income, and state to recommend the most relevant government subsidies and credit schemes — eliminating the information gap that prevents millions from accessing financial support they are entitled to.</a:t>
            </a:r>
          </a:p>
          <a:p>
            <a:pPr>
              <a:spcBef>
                <a:spcPts val="600"/>
              </a:spcBef>
              <a:defRPr sz="800" b="0">
                <a:solidFill>
                  <a:srgbClr val="1A1A2E"/>
                </a:solidFill>
                <a:latin typeface="Calibri"/>
              </a:defRPr>
            </a:pPr>
          </a:p>
          <a:p>
            <a:pPr>
              <a:spcBef>
                <a:spcPts val="600"/>
              </a:spcBef>
              <a:defRPr sz="1500" b="0">
                <a:solidFill>
                  <a:srgbClr val="6B7280"/>
                </a:solidFill>
                <a:latin typeface="Calibri"/>
              </a:defRPr>
            </a:pPr>
            <a:r>
              <a:t>Built with Next.js, FastAPI, SQLite, and the Gemini API, FarmConnect features a glassmorphism UI, multi-language support for 9 Indian languages, and an intelligent search system — making it accessible to farmers across India.</a:t>
            </a:r>
          </a:p>
        </p:txBody>
      </p:sp>
      <p:sp>
        <p:nvSpPr>
          <p:cNvPr id="6" name="TextBox 5"/>
          <p:cNvSpPr txBox="1"/>
          <p:nvPr/>
        </p:nvSpPr>
        <p:spPr>
          <a:xfrm>
            <a:off x="1097280" y="4572000"/>
            <a:ext cx="2286000" cy="640080"/>
          </a:xfrm>
          <a:prstGeom prst="rect">
            <a:avLst/>
          </a:prstGeom>
          <a:noFill/>
        </p:spPr>
        <p:txBody>
          <a:bodyPr wrap="square">
            <a:spAutoFit/>
          </a:bodyPr>
          <a:lstStyle/>
          <a:p>
            <a:pPr algn="ctr">
              <a:defRPr sz="3600" b="1">
                <a:solidFill>
                  <a:srgbClr val="16A34A"/>
                </a:solidFill>
                <a:latin typeface="Calibri"/>
              </a:defRPr>
            </a:pPr>
            <a:r>
              <a:t>3</a:t>
            </a:r>
          </a:p>
        </p:txBody>
      </p:sp>
      <p:sp>
        <p:nvSpPr>
          <p:cNvPr id="7" name="TextBox 6"/>
          <p:cNvSpPr txBox="1"/>
          <p:nvPr/>
        </p:nvSpPr>
        <p:spPr>
          <a:xfrm>
            <a:off x="1097280" y="5212080"/>
            <a:ext cx="2286000" cy="365760"/>
          </a:xfrm>
          <a:prstGeom prst="rect">
            <a:avLst/>
          </a:prstGeom>
          <a:noFill/>
        </p:spPr>
        <p:txBody>
          <a:bodyPr wrap="square">
            <a:spAutoFit/>
          </a:bodyPr>
          <a:lstStyle/>
          <a:p>
            <a:pPr algn="ctr">
              <a:defRPr sz="1400" b="0">
                <a:solidFill>
                  <a:srgbClr val="6B7280"/>
                </a:solidFill>
                <a:latin typeface="Calibri"/>
              </a:defRPr>
            </a:pPr>
            <a:r>
              <a:t>User Roles</a:t>
            </a:r>
          </a:p>
        </p:txBody>
      </p:sp>
      <p:sp>
        <p:nvSpPr>
          <p:cNvPr id="8" name="TextBox 7"/>
          <p:cNvSpPr txBox="1"/>
          <p:nvPr/>
        </p:nvSpPr>
        <p:spPr>
          <a:xfrm>
            <a:off x="3840480" y="4572000"/>
            <a:ext cx="2286000" cy="640080"/>
          </a:xfrm>
          <a:prstGeom prst="rect">
            <a:avLst/>
          </a:prstGeom>
          <a:noFill/>
        </p:spPr>
        <p:txBody>
          <a:bodyPr wrap="square">
            <a:spAutoFit/>
          </a:bodyPr>
          <a:lstStyle/>
          <a:p>
            <a:pPr algn="ctr">
              <a:defRPr sz="3600" b="1">
                <a:solidFill>
                  <a:srgbClr val="16A34A"/>
                </a:solidFill>
                <a:latin typeface="Calibri"/>
              </a:defRPr>
            </a:pPr>
            <a:r>
              <a:t>9</a:t>
            </a:r>
          </a:p>
        </p:txBody>
      </p:sp>
      <p:sp>
        <p:nvSpPr>
          <p:cNvPr id="9" name="TextBox 8"/>
          <p:cNvSpPr txBox="1"/>
          <p:nvPr/>
        </p:nvSpPr>
        <p:spPr>
          <a:xfrm>
            <a:off x="3840480" y="5212080"/>
            <a:ext cx="2286000" cy="365760"/>
          </a:xfrm>
          <a:prstGeom prst="rect">
            <a:avLst/>
          </a:prstGeom>
          <a:noFill/>
        </p:spPr>
        <p:txBody>
          <a:bodyPr wrap="square">
            <a:spAutoFit/>
          </a:bodyPr>
          <a:lstStyle/>
          <a:p>
            <a:pPr algn="ctr">
              <a:defRPr sz="1400" b="0">
                <a:solidFill>
                  <a:srgbClr val="6B7280"/>
                </a:solidFill>
                <a:latin typeface="Calibri"/>
              </a:defRPr>
            </a:pPr>
            <a:r>
              <a:t>Languages</a:t>
            </a:r>
          </a:p>
        </p:txBody>
      </p:sp>
      <p:sp>
        <p:nvSpPr>
          <p:cNvPr id="10" name="TextBox 9"/>
          <p:cNvSpPr txBox="1"/>
          <p:nvPr/>
        </p:nvSpPr>
        <p:spPr>
          <a:xfrm>
            <a:off x="6583680" y="4572000"/>
            <a:ext cx="2286000" cy="640080"/>
          </a:xfrm>
          <a:prstGeom prst="rect">
            <a:avLst/>
          </a:prstGeom>
          <a:noFill/>
        </p:spPr>
        <p:txBody>
          <a:bodyPr wrap="square">
            <a:spAutoFit/>
          </a:bodyPr>
          <a:lstStyle/>
          <a:p>
            <a:pPr algn="ctr">
              <a:defRPr sz="3600" b="1">
                <a:solidFill>
                  <a:srgbClr val="16A34A"/>
                </a:solidFill>
                <a:latin typeface="Calibri"/>
              </a:defRPr>
            </a:pPr>
            <a:r>
              <a:t>AI</a:t>
            </a:r>
          </a:p>
        </p:txBody>
      </p:sp>
      <p:sp>
        <p:nvSpPr>
          <p:cNvPr id="11" name="TextBox 10"/>
          <p:cNvSpPr txBox="1"/>
          <p:nvPr/>
        </p:nvSpPr>
        <p:spPr>
          <a:xfrm>
            <a:off x="6583680" y="5212080"/>
            <a:ext cx="2286000" cy="365760"/>
          </a:xfrm>
          <a:prstGeom prst="rect">
            <a:avLst/>
          </a:prstGeom>
          <a:noFill/>
        </p:spPr>
        <p:txBody>
          <a:bodyPr wrap="square">
            <a:spAutoFit/>
          </a:bodyPr>
          <a:lstStyle/>
          <a:p>
            <a:pPr algn="ctr">
              <a:defRPr sz="1400" b="0">
                <a:solidFill>
                  <a:srgbClr val="6B7280"/>
                </a:solidFill>
                <a:latin typeface="Calibri"/>
              </a:defRPr>
            </a:pPr>
            <a:r>
              <a:t>Policy Engine</a:t>
            </a:r>
          </a:p>
        </p:txBody>
      </p:sp>
      <p:sp>
        <p:nvSpPr>
          <p:cNvPr id="12" name="TextBox 11"/>
          <p:cNvSpPr txBox="1"/>
          <p:nvPr/>
        </p:nvSpPr>
        <p:spPr>
          <a:xfrm>
            <a:off x="9326880" y="4572000"/>
            <a:ext cx="2286000" cy="640080"/>
          </a:xfrm>
          <a:prstGeom prst="rect">
            <a:avLst/>
          </a:prstGeom>
          <a:noFill/>
        </p:spPr>
        <p:txBody>
          <a:bodyPr wrap="square">
            <a:spAutoFit/>
          </a:bodyPr>
          <a:lstStyle/>
          <a:p>
            <a:pPr algn="ctr">
              <a:defRPr sz="3600" b="1">
                <a:solidFill>
                  <a:srgbClr val="16A34A"/>
                </a:solidFill>
                <a:latin typeface="Calibri"/>
              </a:defRPr>
            </a:pPr>
            <a:r>
              <a:t>SQLite</a:t>
            </a:r>
          </a:p>
        </p:txBody>
      </p:sp>
      <p:sp>
        <p:nvSpPr>
          <p:cNvPr id="13" name="TextBox 12"/>
          <p:cNvSpPr txBox="1"/>
          <p:nvPr/>
        </p:nvSpPr>
        <p:spPr>
          <a:xfrm>
            <a:off x="9326880" y="5212080"/>
            <a:ext cx="2286000" cy="365760"/>
          </a:xfrm>
          <a:prstGeom prst="rect">
            <a:avLst/>
          </a:prstGeom>
          <a:noFill/>
        </p:spPr>
        <p:txBody>
          <a:bodyPr wrap="square">
            <a:spAutoFit/>
          </a:bodyPr>
          <a:lstStyle/>
          <a:p>
            <a:pPr algn="ctr">
              <a:defRPr sz="1400" b="0">
                <a:solidFill>
                  <a:srgbClr val="6B7280"/>
                </a:solidFill>
                <a:latin typeface="Calibri"/>
              </a:defRPr>
            </a:pPr>
            <a:r>
              <a:t>Database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1A5C2E"/>
                </a:solidFill>
                <a:latin typeface="Calibri"/>
              </a:defRPr>
            </a:pPr>
            <a:r>
              <a:t>Our Solution</a:t>
            </a:r>
          </a:p>
        </p:txBody>
      </p:sp>
      <p:sp>
        <p:nvSpPr>
          <p:cNvPr id="4" name="Rounded Rectangle 3"/>
          <p:cNvSpPr/>
          <p:nvPr/>
        </p:nvSpPr>
        <p:spPr>
          <a:xfrm>
            <a:off x="548640" y="1371600"/>
            <a:ext cx="2651760" cy="4754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417320" y="1645920"/>
            <a:ext cx="914400" cy="91440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6" name="TextBox 5"/>
          <p:cNvSpPr txBox="1"/>
          <p:nvPr/>
        </p:nvSpPr>
        <p:spPr>
          <a:xfrm>
            <a:off x="685800" y="2743200"/>
            <a:ext cx="2377440" cy="548640"/>
          </a:xfrm>
          <a:prstGeom prst="rect">
            <a:avLst/>
          </a:prstGeom>
          <a:noFill/>
        </p:spPr>
        <p:txBody>
          <a:bodyPr wrap="square">
            <a:spAutoFit/>
          </a:bodyPr>
          <a:lstStyle/>
          <a:p>
            <a:pPr algn="ctr">
              <a:defRPr sz="2000" b="1">
                <a:solidFill>
                  <a:srgbClr val="1A1A2E"/>
                </a:solidFill>
                <a:latin typeface="Calibri"/>
              </a:defRPr>
            </a:pPr>
            <a:r>
              <a:t>Equipment Rental</a:t>
            </a:r>
          </a:p>
        </p:txBody>
      </p:sp>
      <p:sp>
        <p:nvSpPr>
          <p:cNvPr id="7" name="TextBox 6"/>
          <p:cNvSpPr txBox="1"/>
          <p:nvPr/>
        </p:nvSpPr>
        <p:spPr>
          <a:xfrm>
            <a:off x="685800" y="3383280"/>
            <a:ext cx="2377440" cy="2286000"/>
          </a:xfrm>
          <a:prstGeom prst="rect">
            <a:avLst/>
          </a:prstGeom>
          <a:noFill/>
        </p:spPr>
        <p:txBody>
          <a:bodyPr wrap="square">
            <a:spAutoFit/>
          </a:bodyPr>
          <a:lstStyle/>
          <a:p>
            <a:pPr algn="ctr">
              <a:defRPr sz="1300" b="0">
                <a:solidFill>
                  <a:srgbClr val="6B7280"/>
                </a:solidFill>
                <a:latin typeface="Calibri"/>
              </a:defRPr>
            </a:pPr>
            <a:r>
              <a:t>Vendors list idle tractors, harvesters,</a:t>
            </a:r>
            <a:br/>
            <a:r>
              <a:t>tillers &amp; pumps. Farmers search by</a:t>
            </a:r>
            <a:br/>
            <a:r>
              <a:t>location and equipment type, then</a:t>
            </a:r>
            <a:br/>
            <a:r>
              <a:t>call vendors directly — zero middlemen.</a:t>
            </a:r>
          </a:p>
        </p:txBody>
      </p:sp>
      <p:sp>
        <p:nvSpPr>
          <p:cNvPr id="8" name="Rounded Rectangle 7"/>
          <p:cNvSpPr/>
          <p:nvPr/>
        </p:nvSpPr>
        <p:spPr>
          <a:xfrm>
            <a:off x="3383280" y="1371600"/>
            <a:ext cx="2651760" cy="4754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51960" y="164592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0" name="TextBox 9"/>
          <p:cNvSpPr txBox="1"/>
          <p:nvPr/>
        </p:nvSpPr>
        <p:spPr>
          <a:xfrm>
            <a:off x="3520440" y="2743200"/>
            <a:ext cx="2377440" cy="548640"/>
          </a:xfrm>
          <a:prstGeom prst="rect">
            <a:avLst/>
          </a:prstGeom>
          <a:noFill/>
        </p:spPr>
        <p:txBody>
          <a:bodyPr wrap="square">
            <a:spAutoFit/>
          </a:bodyPr>
          <a:lstStyle/>
          <a:p>
            <a:pPr algn="ctr">
              <a:defRPr sz="2000" b="1">
                <a:solidFill>
                  <a:srgbClr val="1A1A2E"/>
                </a:solidFill>
                <a:latin typeface="Calibri"/>
              </a:defRPr>
            </a:pPr>
            <a:r>
              <a:t>Worker Discovery</a:t>
            </a:r>
          </a:p>
        </p:txBody>
      </p:sp>
      <p:sp>
        <p:nvSpPr>
          <p:cNvPr id="11" name="TextBox 10"/>
          <p:cNvSpPr txBox="1"/>
          <p:nvPr/>
        </p:nvSpPr>
        <p:spPr>
          <a:xfrm>
            <a:off x="3520440" y="3383280"/>
            <a:ext cx="2377440" cy="2286000"/>
          </a:xfrm>
          <a:prstGeom prst="rect">
            <a:avLst/>
          </a:prstGeom>
          <a:noFill/>
        </p:spPr>
        <p:txBody>
          <a:bodyPr wrap="square">
            <a:spAutoFit/>
          </a:bodyPr>
          <a:lstStyle/>
          <a:p>
            <a:pPr algn="ctr">
              <a:defRPr sz="1300" b="0">
                <a:solidFill>
                  <a:srgbClr val="6B7280"/>
                </a:solidFill>
                <a:latin typeface="Calibri"/>
              </a:defRPr>
            </a:pPr>
            <a:r>
              <a:t>Agricultural workers register their</a:t>
            </a:r>
            <a:br/>
            <a:r>
              <a:t>skills (harvesting, planting, spraying)</a:t>
            </a:r>
            <a:br/>
            <a:r>
              <a:t>and daily wage. Farmers filter by</a:t>
            </a:r>
            <a:br/>
            <a:r>
              <a:t>skill and city to find labor fast.</a:t>
            </a:r>
          </a:p>
        </p:txBody>
      </p:sp>
      <p:sp>
        <p:nvSpPr>
          <p:cNvPr id="12" name="Rounded Rectangle 11"/>
          <p:cNvSpPr/>
          <p:nvPr/>
        </p:nvSpPr>
        <p:spPr>
          <a:xfrm>
            <a:off x="6217920" y="1371600"/>
            <a:ext cx="2651760" cy="4754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86600" y="1645920"/>
            <a:ext cx="914400" cy="9144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4" name="TextBox 13"/>
          <p:cNvSpPr txBox="1"/>
          <p:nvPr/>
        </p:nvSpPr>
        <p:spPr>
          <a:xfrm>
            <a:off x="6355080" y="2743200"/>
            <a:ext cx="2377440" cy="548640"/>
          </a:xfrm>
          <a:prstGeom prst="rect">
            <a:avLst/>
          </a:prstGeom>
          <a:noFill/>
        </p:spPr>
        <p:txBody>
          <a:bodyPr wrap="square">
            <a:spAutoFit/>
          </a:bodyPr>
          <a:lstStyle/>
          <a:p>
            <a:pPr algn="ctr">
              <a:defRPr sz="2000" b="1">
                <a:solidFill>
                  <a:srgbClr val="1A1A2E"/>
                </a:solidFill>
                <a:latin typeface="Calibri"/>
              </a:defRPr>
            </a:pPr>
            <a:r>
              <a:t>AI Policy Matcher</a:t>
            </a:r>
          </a:p>
        </p:txBody>
      </p:sp>
      <p:sp>
        <p:nvSpPr>
          <p:cNvPr id="15" name="TextBox 14"/>
          <p:cNvSpPr txBox="1"/>
          <p:nvPr/>
        </p:nvSpPr>
        <p:spPr>
          <a:xfrm>
            <a:off x="6355080" y="3383280"/>
            <a:ext cx="2377440" cy="2286000"/>
          </a:xfrm>
          <a:prstGeom prst="rect">
            <a:avLst/>
          </a:prstGeom>
          <a:noFill/>
        </p:spPr>
        <p:txBody>
          <a:bodyPr wrap="square">
            <a:spAutoFit/>
          </a:bodyPr>
          <a:lstStyle/>
          <a:p>
            <a:pPr algn="ctr">
              <a:defRPr sz="1300" b="0">
                <a:solidFill>
                  <a:srgbClr val="6B7280"/>
                </a:solidFill>
                <a:latin typeface="Calibri"/>
              </a:defRPr>
            </a:pPr>
            <a:r>
              <a:t>Powered by Google Gemini LLM.</a:t>
            </a:r>
            <a:br/>
            <a:r>
              <a:t>Farmers enter crop, land size, income</a:t>
            </a:r>
            <a:br/>
            <a:r>
              <a:t>&amp; state. The AI returns personalized</a:t>
            </a:r>
            <a:br/>
            <a:r>
              <a:t>government schemes with how-to-apply steps.</a:t>
            </a:r>
          </a:p>
        </p:txBody>
      </p:sp>
      <p:sp>
        <p:nvSpPr>
          <p:cNvPr id="16" name="Rounded Rectangle 15"/>
          <p:cNvSpPr/>
          <p:nvPr/>
        </p:nvSpPr>
        <p:spPr>
          <a:xfrm>
            <a:off x="9052560" y="1371600"/>
            <a:ext cx="2651760" cy="4754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921240" y="1645920"/>
            <a:ext cx="914400" cy="9144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8" name="TextBox 17"/>
          <p:cNvSpPr txBox="1"/>
          <p:nvPr/>
        </p:nvSpPr>
        <p:spPr>
          <a:xfrm>
            <a:off x="9189720" y="2743200"/>
            <a:ext cx="2377440" cy="548640"/>
          </a:xfrm>
          <a:prstGeom prst="rect">
            <a:avLst/>
          </a:prstGeom>
          <a:noFill/>
        </p:spPr>
        <p:txBody>
          <a:bodyPr wrap="square">
            <a:spAutoFit/>
          </a:bodyPr>
          <a:lstStyle/>
          <a:p>
            <a:pPr algn="ctr">
              <a:defRPr sz="2000" b="1">
                <a:solidFill>
                  <a:srgbClr val="1A1A2E"/>
                </a:solidFill>
                <a:latin typeface="Calibri"/>
              </a:defRPr>
            </a:pPr>
            <a:r>
              <a:t>Multi-Language</a:t>
            </a:r>
          </a:p>
        </p:txBody>
      </p:sp>
      <p:sp>
        <p:nvSpPr>
          <p:cNvPr id="19" name="TextBox 18"/>
          <p:cNvSpPr txBox="1"/>
          <p:nvPr/>
        </p:nvSpPr>
        <p:spPr>
          <a:xfrm>
            <a:off x="9189720" y="3383280"/>
            <a:ext cx="2377440" cy="2286000"/>
          </a:xfrm>
          <a:prstGeom prst="rect">
            <a:avLst/>
          </a:prstGeom>
          <a:noFill/>
        </p:spPr>
        <p:txBody>
          <a:bodyPr wrap="square">
            <a:spAutoFit/>
          </a:bodyPr>
          <a:lstStyle/>
          <a:p>
            <a:pPr algn="ctr">
              <a:defRPr sz="1300" b="0">
                <a:solidFill>
                  <a:srgbClr val="6B7280"/>
                </a:solidFill>
                <a:latin typeface="Calibri"/>
              </a:defRPr>
            </a:pPr>
            <a:r>
              <a:t>Entire platform translates instantly</a:t>
            </a:r>
            <a:br/>
            <a:r>
              <a:t>into Hindi, Malayalam, Tamil, Telugu,</a:t>
            </a:r>
            <a:br/>
            <a:r>
              <a:t>Kannada, Marathi, Gujarati &amp; Bengali</a:t>
            </a:r>
            <a:br/>
            <a:r>
              <a:t>using integrated Google Translate.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1A5C2E"/>
                </a:solidFill>
                <a:latin typeface="Calibri"/>
              </a:defRPr>
            </a:pPr>
            <a:r>
              <a:t>Key Features</a:t>
            </a:r>
          </a:p>
        </p:txBody>
      </p:sp>
      <p:sp>
        <p:nvSpPr>
          <p:cNvPr id="4" name="Rounded Rectangle 3"/>
          <p:cNvSpPr/>
          <p:nvPr/>
        </p:nvSpPr>
        <p:spPr>
          <a:xfrm>
            <a:off x="548640" y="12801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63500" cy="2468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3108960" cy="457200"/>
          </a:xfrm>
          <a:prstGeom prst="rect">
            <a:avLst/>
          </a:prstGeom>
          <a:noFill/>
        </p:spPr>
        <p:txBody>
          <a:bodyPr wrap="square">
            <a:spAutoFit/>
          </a:bodyPr>
          <a:lstStyle/>
          <a:p>
            <a:pPr algn="l">
              <a:defRPr sz="1600" b="1">
                <a:solidFill>
                  <a:srgbClr val="1A1A2E"/>
                </a:solidFill>
                <a:latin typeface="Calibri"/>
              </a:defRPr>
            </a:pPr>
            <a:r>
              <a:t>Intelligent Search Bar</a:t>
            </a:r>
          </a:p>
        </p:txBody>
      </p:sp>
      <p:sp>
        <p:nvSpPr>
          <p:cNvPr id="7" name="TextBox 6"/>
          <p:cNvSpPr txBox="1"/>
          <p:nvPr/>
        </p:nvSpPr>
        <p:spPr>
          <a:xfrm>
            <a:off x="731520" y="1965960"/>
            <a:ext cx="3108960" cy="1645920"/>
          </a:xfrm>
          <a:prstGeom prst="rect">
            <a:avLst/>
          </a:prstGeom>
          <a:noFill/>
        </p:spPr>
        <p:txBody>
          <a:bodyPr wrap="square">
            <a:spAutoFit/>
          </a:bodyPr>
          <a:lstStyle/>
          <a:p>
            <a:pPr algn="l">
              <a:defRPr sz="1100" b="0">
                <a:solidFill>
                  <a:srgbClr val="6B7280"/>
                </a:solidFill>
                <a:latin typeface="Calibri"/>
              </a:defRPr>
            </a:pPr>
            <a:r>
              <a:t>The hero search bar intelligently routes queries:</a:t>
            </a:r>
            <a:br/>
            <a:r>
              <a:t>• "harvester" → Equipment section</a:t>
            </a:r>
            <a:br/>
            <a:r>
              <a:t>• "harvesting" → Workers section</a:t>
            </a:r>
            <a:br/>
            <a:r>
              <a:t>• "loan" or "scheme" → AI Policy Matcher</a:t>
            </a:r>
          </a:p>
        </p:txBody>
      </p:sp>
      <p:sp>
        <p:nvSpPr>
          <p:cNvPr id="8" name="Rounded Rectangle 7"/>
          <p:cNvSpPr/>
          <p:nvPr/>
        </p:nvSpPr>
        <p:spPr>
          <a:xfrm>
            <a:off x="4297679" y="12801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79" y="1280160"/>
            <a:ext cx="63500" cy="2468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463040"/>
            <a:ext cx="3108960" cy="457200"/>
          </a:xfrm>
          <a:prstGeom prst="rect">
            <a:avLst/>
          </a:prstGeom>
          <a:noFill/>
        </p:spPr>
        <p:txBody>
          <a:bodyPr wrap="square">
            <a:spAutoFit/>
          </a:bodyPr>
          <a:lstStyle/>
          <a:p>
            <a:pPr algn="l">
              <a:defRPr sz="1600" b="1">
                <a:solidFill>
                  <a:srgbClr val="1A1A2E"/>
                </a:solidFill>
                <a:latin typeface="Calibri"/>
              </a:defRPr>
            </a:pPr>
            <a:r>
              <a:t>Role-Based Access</a:t>
            </a:r>
          </a:p>
        </p:txBody>
      </p:sp>
      <p:sp>
        <p:nvSpPr>
          <p:cNvPr id="11" name="TextBox 10"/>
          <p:cNvSpPr txBox="1"/>
          <p:nvPr/>
        </p:nvSpPr>
        <p:spPr>
          <a:xfrm>
            <a:off x="4480559" y="1965960"/>
            <a:ext cx="3108960" cy="1645920"/>
          </a:xfrm>
          <a:prstGeom prst="rect">
            <a:avLst/>
          </a:prstGeom>
          <a:noFill/>
        </p:spPr>
        <p:txBody>
          <a:bodyPr wrap="square">
            <a:spAutoFit/>
          </a:bodyPr>
          <a:lstStyle/>
          <a:p>
            <a:pPr algn="l">
              <a:defRPr sz="1100" b="0">
                <a:solidFill>
                  <a:srgbClr val="6B7280"/>
                </a:solidFill>
                <a:latin typeface="Calibri"/>
              </a:defRPr>
            </a:pPr>
            <a:r>
              <a:t>Three distinct user roles:</a:t>
            </a:r>
            <a:br/>
            <a:r>
              <a:t>• Farmer — discovers equipment &amp; workers</a:t>
            </a:r>
            <a:br/>
            <a:r>
              <a:t>• Vendor — lists equipment for rent</a:t>
            </a:r>
            <a:br/>
            <a:r>
              <a:t>• Worker — registers skills &amp; availability</a:t>
            </a:r>
          </a:p>
        </p:txBody>
      </p:sp>
      <p:sp>
        <p:nvSpPr>
          <p:cNvPr id="12" name="Rounded Rectangle 11"/>
          <p:cNvSpPr/>
          <p:nvPr/>
        </p:nvSpPr>
        <p:spPr>
          <a:xfrm>
            <a:off x="8046718" y="12801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18" y="1280160"/>
            <a:ext cx="63500" cy="2468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8" y="1463040"/>
            <a:ext cx="3108960" cy="457200"/>
          </a:xfrm>
          <a:prstGeom prst="rect">
            <a:avLst/>
          </a:prstGeom>
          <a:noFill/>
        </p:spPr>
        <p:txBody>
          <a:bodyPr wrap="square">
            <a:spAutoFit/>
          </a:bodyPr>
          <a:lstStyle/>
          <a:p>
            <a:pPr algn="l">
              <a:defRPr sz="1600" b="1">
                <a:solidFill>
                  <a:srgbClr val="1A1A2E"/>
                </a:solidFill>
                <a:latin typeface="Calibri"/>
              </a:defRPr>
            </a:pPr>
            <a:r>
              <a:t>Live Database Integration</a:t>
            </a:r>
          </a:p>
        </p:txBody>
      </p:sp>
      <p:sp>
        <p:nvSpPr>
          <p:cNvPr id="15" name="TextBox 14"/>
          <p:cNvSpPr txBox="1"/>
          <p:nvPr/>
        </p:nvSpPr>
        <p:spPr>
          <a:xfrm>
            <a:off x="8229598" y="1965960"/>
            <a:ext cx="3108960" cy="1645920"/>
          </a:xfrm>
          <a:prstGeom prst="rect">
            <a:avLst/>
          </a:prstGeom>
          <a:noFill/>
        </p:spPr>
        <p:txBody>
          <a:bodyPr wrap="square">
            <a:spAutoFit/>
          </a:bodyPr>
          <a:lstStyle/>
          <a:p>
            <a:pPr algn="l">
              <a:defRPr sz="1100" b="0">
                <a:solidFill>
                  <a:srgbClr val="6B7280"/>
                </a:solidFill>
                <a:latin typeface="Calibri"/>
              </a:defRPr>
            </a:pPr>
            <a:r>
              <a:t>All registrations (equipment &amp; workers) are</a:t>
            </a:r>
            <a:br/>
            <a:r>
              <a:t>stored in a real SQLite database via FastAPI.</a:t>
            </a:r>
            <a:br/>
            <a:r>
              <a:t>Search results come from actual DB queries</a:t>
            </a:r>
            <a:br/>
            <a:r>
              <a:t>with location and type/skill filtering.</a:t>
            </a:r>
          </a:p>
        </p:txBody>
      </p:sp>
      <p:sp>
        <p:nvSpPr>
          <p:cNvPr id="16" name="Rounded Rectangle 15"/>
          <p:cNvSpPr/>
          <p:nvPr/>
        </p:nvSpPr>
        <p:spPr>
          <a:xfrm>
            <a:off x="548640" y="40233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23360"/>
            <a:ext cx="63500" cy="2468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206240"/>
            <a:ext cx="3108960" cy="457200"/>
          </a:xfrm>
          <a:prstGeom prst="rect">
            <a:avLst/>
          </a:prstGeom>
          <a:noFill/>
        </p:spPr>
        <p:txBody>
          <a:bodyPr wrap="square">
            <a:spAutoFit/>
          </a:bodyPr>
          <a:lstStyle/>
          <a:p>
            <a:pPr algn="l">
              <a:defRPr sz="1600" b="1">
                <a:solidFill>
                  <a:srgbClr val="1A1A2E"/>
                </a:solidFill>
                <a:latin typeface="Calibri"/>
              </a:defRPr>
            </a:pPr>
            <a:r>
              <a:t>AI-Powered Scheme Matching</a:t>
            </a:r>
          </a:p>
        </p:txBody>
      </p:sp>
      <p:sp>
        <p:nvSpPr>
          <p:cNvPr id="19" name="TextBox 18"/>
          <p:cNvSpPr txBox="1"/>
          <p:nvPr/>
        </p:nvSpPr>
        <p:spPr>
          <a:xfrm>
            <a:off x="731520" y="4709160"/>
            <a:ext cx="3108960" cy="1645920"/>
          </a:xfrm>
          <a:prstGeom prst="rect">
            <a:avLst/>
          </a:prstGeom>
          <a:noFill/>
        </p:spPr>
        <p:txBody>
          <a:bodyPr wrap="square">
            <a:spAutoFit/>
          </a:bodyPr>
          <a:lstStyle/>
          <a:p>
            <a:pPr algn="l">
              <a:defRPr sz="1100" b="0">
                <a:solidFill>
                  <a:srgbClr val="6B7280"/>
                </a:solidFill>
                <a:latin typeface="Calibri"/>
              </a:defRPr>
            </a:pPr>
            <a:r>
              <a:t>Gemini LLM analyzes farm profiles and returns</a:t>
            </a:r>
            <a:br/>
            <a:r>
              <a:t>3-5 relevant central + state-specific schemes.</a:t>
            </a:r>
            <a:br/>
            <a:r>
              <a:t>Default schemes shown on page load;</a:t>
            </a:r>
            <a:br/>
            <a:r>
              <a:t>form acts as a filter for personalization.</a:t>
            </a:r>
          </a:p>
        </p:txBody>
      </p:sp>
      <p:sp>
        <p:nvSpPr>
          <p:cNvPr id="20" name="Rounded Rectangle 19"/>
          <p:cNvSpPr/>
          <p:nvPr/>
        </p:nvSpPr>
        <p:spPr>
          <a:xfrm>
            <a:off x="4297679" y="40233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79" y="4023360"/>
            <a:ext cx="63500" cy="2468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4206240"/>
            <a:ext cx="3108960" cy="457200"/>
          </a:xfrm>
          <a:prstGeom prst="rect">
            <a:avLst/>
          </a:prstGeom>
          <a:noFill/>
        </p:spPr>
        <p:txBody>
          <a:bodyPr wrap="square">
            <a:spAutoFit/>
          </a:bodyPr>
          <a:lstStyle/>
          <a:p>
            <a:pPr algn="l">
              <a:defRPr sz="1600" b="1">
                <a:solidFill>
                  <a:srgbClr val="1A1A2E"/>
                </a:solidFill>
                <a:latin typeface="Calibri"/>
              </a:defRPr>
            </a:pPr>
            <a:r>
              <a:t>Glassmorphism UI Design</a:t>
            </a:r>
          </a:p>
        </p:txBody>
      </p:sp>
      <p:sp>
        <p:nvSpPr>
          <p:cNvPr id="23" name="TextBox 22"/>
          <p:cNvSpPr txBox="1"/>
          <p:nvPr/>
        </p:nvSpPr>
        <p:spPr>
          <a:xfrm>
            <a:off x="4480559" y="4709160"/>
            <a:ext cx="3108960" cy="1645920"/>
          </a:xfrm>
          <a:prstGeom prst="rect">
            <a:avLst/>
          </a:prstGeom>
          <a:noFill/>
        </p:spPr>
        <p:txBody>
          <a:bodyPr wrap="square">
            <a:spAutoFit/>
          </a:bodyPr>
          <a:lstStyle/>
          <a:p>
            <a:pPr algn="l">
              <a:defRPr sz="1100" b="0">
                <a:solidFill>
                  <a:srgbClr val="6B7280"/>
                </a:solidFill>
                <a:latin typeface="Calibri"/>
              </a:defRPr>
            </a:pPr>
            <a:r>
              <a:t>Premium modern interface with animated blobs,</a:t>
            </a:r>
            <a:br/>
            <a:r>
              <a:t>sliding sidebars, custom select dropdowns,</a:t>
            </a:r>
            <a:br/>
            <a:r>
              <a:t>and consistent micro-animations across</a:t>
            </a:r>
            <a:br/>
            <a:r>
              <a:t>every page and component.</a:t>
            </a:r>
          </a:p>
        </p:txBody>
      </p:sp>
      <p:sp>
        <p:nvSpPr>
          <p:cNvPr id="24" name="Rounded Rectangle 23"/>
          <p:cNvSpPr/>
          <p:nvPr/>
        </p:nvSpPr>
        <p:spPr>
          <a:xfrm>
            <a:off x="8046718" y="40233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18" y="4023360"/>
            <a:ext cx="63500" cy="24688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8" y="4206240"/>
            <a:ext cx="3108960" cy="457200"/>
          </a:xfrm>
          <a:prstGeom prst="rect">
            <a:avLst/>
          </a:prstGeom>
          <a:noFill/>
        </p:spPr>
        <p:txBody>
          <a:bodyPr wrap="square">
            <a:spAutoFit/>
          </a:bodyPr>
          <a:lstStyle/>
          <a:p>
            <a:pPr algn="l">
              <a:defRPr sz="1600" b="1">
                <a:solidFill>
                  <a:srgbClr val="1A1A2E"/>
                </a:solidFill>
                <a:latin typeface="Calibri"/>
              </a:defRPr>
            </a:pPr>
            <a:r>
              <a:t>9-Language Translation</a:t>
            </a:r>
          </a:p>
        </p:txBody>
      </p:sp>
      <p:sp>
        <p:nvSpPr>
          <p:cNvPr id="27" name="TextBox 26"/>
          <p:cNvSpPr txBox="1"/>
          <p:nvPr/>
        </p:nvSpPr>
        <p:spPr>
          <a:xfrm>
            <a:off x="8229598" y="4709160"/>
            <a:ext cx="3108960" cy="1645920"/>
          </a:xfrm>
          <a:prstGeom prst="rect">
            <a:avLst/>
          </a:prstGeom>
          <a:noFill/>
        </p:spPr>
        <p:txBody>
          <a:bodyPr wrap="square">
            <a:spAutoFit/>
          </a:bodyPr>
          <a:lstStyle/>
          <a:p>
            <a:pPr algn="l">
              <a:defRPr sz="1100" b="0">
                <a:solidFill>
                  <a:srgbClr val="6B7280"/>
                </a:solidFill>
                <a:latin typeface="Calibri"/>
              </a:defRPr>
            </a:pPr>
            <a:r>
              <a:t>Google Translate injected via a custom-styled</a:t>
            </a:r>
            <a:br/>
            <a:r>
              <a:t>dropdown in the navbar. Translates the entire</a:t>
            </a:r>
            <a:br/>
            <a:r>
              <a:t>app on-the-fly without breaking any React</a:t>
            </a:r>
            <a:br/>
            <a:r>
              <a:t>state or backend API connections.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1A5C2E"/>
                </a:solidFill>
                <a:latin typeface="Calibri"/>
              </a:defRPr>
            </a:pPr>
            <a:r>
              <a:t>User Roles &amp; Journeys</a:t>
            </a:r>
          </a:p>
        </p:txBody>
      </p:sp>
      <p:sp>
        <p:nvSpPr>
          <p:cNvPr id="4" name="Rounded Rectangle 3"/>
          <p:cNvSpPr/>
          <p:nvPr/>
        </p:nvSpPr>
        <p:spPr>
          <a:xfrm>
            <a:off x="548640" y="1280160"/>
            <a:ext cx="3474720" cy="50292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0" y="1554480"/>
            <a:ext cx="914400" cy="91440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6" name="TextBox 5"/>
          <p:cNvSpPr txBox="1"/>
          <p:nvPr/>
        </p:nvSpPr>
        <p:spPr>
          <a:xfrm>
            <a:off x="731520" y="2651760"/>
            <a:ext cx="3108960" cy="457200"/>
          </a:xfrm>
          <a:prstGeom prst="rect">
            <a:avLst/>
          </a:prstGeom>
          <a:noFill/>
        </p:spPr>
        <p:txBody>
          <a:bodyPr wrap="square">
            <a:spAutoFit/>
          </a:bodyPr>
          <a:lstStyle/>
          <a:p>
            <a:pPr algn="ctr">
              <a:defRPr sz="2200" b="1">
                <a:solidFill>
                  <a:srgbClr val="1A1A2E"/>
                </a:solidFill>
                <a:latin typeface="Calibri"/>
              </a:defRPr>
            </a:pPr>
            <a:r>
              <a:t>Farmer</a:t>
            </a:r>
          </a:p>
        </p:txBody>
      </p:sp>
      <p:sp>
        <p:nvSpPr>
          <p:cNvPr id="7" name="TextBox 6"/>
          <p:cNvSpPr txBox="1"/>
          <p:nvPr/>
        </p:nvSpPr>
        <p:spPr>
          <a:xfrm>
            <a:off x="822960" y="3200400"/>
            <a:ext cx="2926080" cy="2926080"/>
          </a:xfrm>
          <a:prstGeom prst="rect">
            <a:avLst/>
          </a:prstGeom>
          <a:noFill/>
        </p:spPr>
        <p:txBody>
          <a:bodyPr wrap="square">
            <a:spAutoFit/>
          </a:bodyPr>
          <a:lstStyle/>
          <a:p>
            <a:pPr algn="l">
              <a:defRPr sz="1200" b="0">
                <a:solidFill>
                  <a:srgbClr val="6B7280"/>
                </a:solidFill>
                <a:latin typeface="Calibri"/>
              </a:defRPr>
            </a:pPr>
          </a:p>
          <a:p>
            <a:pPr>
              <a:spcBef>
                <a:spcPts val="1000"/>
              </a:spcBef>
              <a:defRPr sz="1200" b="0">
                <a:solidFill>
                  <a:srgbClr val="6B7280"/>
                </a:solidFill>
                <a:latin typeface="Calibri"/>
              </a:defRPr>
            </a:pPr>
            <a:r>
              <a:t>✓  Search for equipment by location &amp; type</a:t>
            </a:r>
          </a:p>
          <a:p>
            <a:pPr>
              <a:spcBef>
                <a:spcPts val="1000"/>
              </a:spcBef>
              <a:defRPr sz="1200" b="0">
                <a:solidFill>
                  <a:srgbClr val="6B7280"/>
                </a:solidFill>
                <a:latin typeface="Calibri"/>
              </a:defRPr>
            </a:pPr>
            <a:r>
              <a:t>✓  Discover skilled workers for hire</a:t>
            </a:r>
          </a:p>
          <a:p>
            <a:pPr>
              <a:spcBef>
                <a:spcPts val="1000"/>
              </a:spcBef>
              <a:defRPr sz="1200" b="0">
                <a:solidFill>
                  <a:srgbClr val="6B7280"/>
                </a:solidFill>
                <a:latin typeface="Calibri"/>
              </a:defRPr>
            </a:pPr>
            <a:r>
              <a:t>✓  Use AI Policy Matcher for government schemes</a:t>
            </a:r>
          </a:p>
          <a:p>
            <a:pPr>
              <a:spcBef>
                <a:spcPts val="1000"/>
              </a:spcBef>
              <a:defRPr sz="1200" b="0">
                <a:solidFill>
                  <a:srgbClr val="6B7280"/>
                </a:solidFill>
                <a:latin typeface="Calibri"/>
              </a:defRPr>
            </a:pPr>
            <a:r>
              <a:t>✓  Call vendors/workers directly from results</a:t>
            </a:r>
          </a:p>
          <a:p>
            <a:pPr>
              <a:spcBef>
                <a:spcPts val="1000"/>
              </a:spcBef>
              <a:defRPr sz="1200" b="0">
                <a:solidFill>
                  <a:srgbClr val="6B7280"/>
                </a:solidFill>
                <a:latin typeface="Calibri"/>
              </a:defRPr>
            </a:pPr>
            <a:r>
              <a:t>✓  Switch language for regional accessibility</a:t>
            </a:r>
          </a:p>
        </p:txBody>
      </p:sp>
      <p:sp>
        <p:nvSpPr>
          <p:cNvPr id="8" name="Rounded Rectangle 7"/>
          <p:cNvSpPr/>
          <p:nvPr/>
        </p:nvSpPr>
        <p:spPr>
          <a:xfrm>
            <a:off x="4297679" y="1280160"/>
            <a:ext cx="3474720" cy="50292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577839" y="15544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0" name="TextBox 9"/>
          <p:cNvSpPr txBox="1"/>
          <p:nvPr/>
        </p:nvSpPr>
        <p:spPr>
          <a:xfrm>
            <a:off x="4480559" y="2651760"/>
            <a:ext cx="3108960" cy="457200"/>
          </a:xfrm>
          <a:prstGeom prst="rect">
            <a:avLst/>
          </a:prstGeom>
          <a:noFill/>
        </p:spPr>
        <p:txBody>
          <a:bodyPr wrap="square">
            <a:spAutoFit/>
          </a:bodyPr>
          <a:lstStyle/>
          <a:p>
            <a:pPr algn="ctr">
              <a:defRPr sz="2200" b="1">
                <a:solidFill>
                  <a:srgbClr val="1A1A2E"/>
                </a:solidFill>
                <a:latin typeface="Calibri"/>
              </a:defRPr>
            </a:pPr>
            <a:r>
              <a:t>Equipment Vendor</a:t>
            </a:r>
          </a:p>
        </p:txBody>
      </p:sp>
      <p:sp>
        <p:nvSpPr>
          <p:cNvPr id="11" name="TextBox 10"/>
          <p:cNvSpPr txBox="1"/>
          <p:nvPr/>
        </p:nvSpPr>
        <p:spPr>
          <a:xfrm>
            <a:off x="4571999" y="3200400"/>
            <a:ext cx="2926080" cy="2926080"/>
          </a:xfrm>
          <a:prstGeom prst="rect">
            <a:avLst/>
          </a:prstGeom>
          <a:noFill/>
        </p:spPr>
        <p:txBody>
          <a:bodyPr wrap="square">
            <a:spAutoFit/>
          </a:bodyPr>
          <a:lstStyle/>
          <a:p>
            <a:pPr algn="l">
              <a:defRPr sz="1200" b="0">
                <a:solidFill>
                  <a:srgbClr val="6B7280"/>
                </a:solidFill>
                <a:latin typeface="Calibri"/>
              </a:defRPr>
            </a:pPr>
          </a:p>
          <a:p>
            <a:pPr>
              <a:spcBef>
                <a:spcPts val="1000"/>
              </a:spcBef>
              <a:defRPr sz="1200" b="0">
                <a:solidFill>
                  <a:srgbClr val="6B7280"/>
                </a:solidFill>
                <a:latin typeface="Calibri"/>
              </a:defRPr>
            </a:pPr>
            <a:r>
              <a:t>✓  Register idle machinery (tractor, harvester, etc.)</a:t>
            </a:r>
          </a:p>
          <a:p>
            <a:pPr>
              <a:spcBef>
                <a:spcPts val="1000"/>
              </a:spcBef>
              <a:defRPr sz="1200" b="0">
                <a:solidFill>
                  <a:srgbClr val="6B7280"/>
                </a:solidFill>
                <a:latin typeface="Calibri"/>
              </a:defRPr>
            </a:pPr>
            <a:r>
              <a:t>✓  Specify rental price, condition &amp; availability</a:t>
            </a:r>
          </a:p>
          <a:p>
            <a:pPr>
              <a:spcBef>
                <a:spcPts val="1000"/>
              </a:spcBef>
              <a:defRPr sz="1200" b="0">
                <a:solidFill>
                  <a:srgbClr val="6B7280"/>
                </a:solidFill>
                <a:latin typeface="Calibri"/>
              </a:defRPr>
            </a:pPr>
            <a:r>
              <a:t>✓  Get discovered by farmers in your district</a:t>
            </a:r>
          </a:p>
          <a:p>
            <a:pPr>
              <a:spcBef>
                <a:spcPts val="1000"/>
              </a:spcBef>
              <a:defRPr sz="1200" b="0">
                <a:solidFill>
                  <a:srgbClr val="6B7280"/>
                </a:solidFill>
                <a:latin typeface="Calibri"/>
              </a:defRPr>
            </a:pPr>
            <a:r>
              <a:t>✓  Receive direct phone calls from interested farmers</a:t>
            </a:r>
          </a:p>
          <a:p>
            <a:pPr>
              <a:spcBef>
                <a:spcPts val="1000"/>
              </a:spcBef>
              <a:defRPr sz="1200" b="0">
                <a:solidFill>
                  <a:srgbClr val="6B7280"/>
                </a:solidFill>
                <a:latin typeface="Calibri"/>
              </a:defRPr>
            </a:pPr>
            <a:r>
              <a:t>✓  Edit profile information anytime</a:t>
            </a:r>
          </a:p>
        </p:txBody>
      </p:sp>
      <p:sp>
        <p:nvSpPr>
          <p:cNvPr id="12" name="Rounded Rectangle 11"/>
          <p:cNvSpPr/>
          <p:nvPr/>
        </p:nvSpPr>
        <p:spPr>
          <a:xfrm>
            <a:off x="8046718" y="1280160"/>
            <a:ext cx="3474720" cy="50292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26878" y="1554480"/>
            <a:ext cx="914400" cy="9144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Segoe UI Emoji"/>
              </a:defRPr>
            </a:pPr>
            <a:r>
              <a:t>👷</a:t>
            </a:r>
          </a:p>
        </p:txBody>
      </p:sp>
      <p:sp>
        <p:nvSpPr>
          <p:cNvPr id="14" name="TextBox 13"/>
          <p:cNvSpPr txBox="1"/>
          <p:nvPr/>
        </p:nvSpPr>
        <p:spPr>
          <a:xfrm>
            <a:off x="8229598" y="2651760"/>
            <a:ext cx="3108960" cy="457200"/>
          </a:xfrm>
          <a:prstGeom prst="rect">
            <a:avLst/>
          </a:prstGeom>
          <a:noFill/>
        </p:spPr>
        <p:txBody>
          <a:bodyPr wrap="square">
            <a:spAutoFit/>
          </a:bodyPr>
          <a:lstStyle/>
          <a:p>
            <a:pPr algn="ctr">
              <a:defRPr sz="2200" b="1">
                <a:solidFill>
                  <a:srgbClr val="1A1A2E"/>
                </a:solidFill>
                <a:latin typeface="Calibri"/>
              </a:defRPr>
            </a:pPr>
            <a:r>
              <a:t>Agricultural Worker</a:t>
            </a:r>
          </a:p>
        </p:txBody>
      </p:sp>
      <p:sp>
        <p:nvSpPr>
          <p:cNvPr id="15" name="TextBox 14"/>
          <p:cNvSpPr txBox="1"/>
          <p:nvPr/>
        </p:nvSpPr>
        <p:spPr>
          <a:xfrm>
            <a:off x="8321038" y="3200400"/>
            <a:ext cx="2926080" cy="2926080"/>
          </a:xfrm>
          <a:prstGeom prst="rect">
            <a:avLst/>
          </a:prstGeom>
          <a:noFill/>
        </p:spPr>
        <p:txBody>
          <a:bodyPr wrap="square">
            <a:spAutoFit/>
          </a:bodyPr>
          <a:lstStyle/>
          <a:p>
            <a:pPr algn="l">
              <a:defRPr sz="1200" b="0">
                <a:solidFill>
                  <a:srgbClr val="6B7280"/>
                </a:solidFill>
                <a:latin typeface="Calibri"/>
              </a:defRPr>
            </a:pPr>
          </a:p>
          <a:p>
            <a:pPr>
              <a:spcBef>
                <a:spcPts val="1000"/>
              </a:spcBef>
              <a:defRPr sz="1200" b="0">
                <a:solidFill>
                  <a:srgbClr val="6B7280"/>
                </a:solidFill>
                <a:latin typeface="Calibri"/>
              </a:defRPr>
            </a:pPr>
            <a:r>
              <a:t>✓  Register specialized skills (harvesting, planting, etc.)</a:t>
            </a:r>
          </a:p>
          <a:p>
            <a:pPr>
              <a:spcBef>
                <a:spcPts val="1000"/>
              </a:spcBef>
              <a:defRPr sz="1200" b="0">
                <a:solidFill>
                  <a:srgbClr val="6B7280"/>
                </a:solidFill>
                <a:latin typeface="Calibri"/>
              </a:defRPr>
            </a:pPr>
            <a:r>
              <a:t>✓  Set daily wage and available date range</a:t>
            </a:r>
          </a:p>
          <a:p>
            <a:pPr>
              <a:spcBef>
                <a:spcPts val="1000"/>
              </a:spcBef>
              <a:defRPr sz="1200" b="0">
                <a:solidFill>
                  <a:srgbClr val="6B7280"/>
                </a:solidFill>
                <a:latin typeface="Calibri"/>
              </a:defRPr>
            </a:pPr>
            <a:r>
              <a:t>✓  Get discovered by farmers searching for labor</a:t>
            </a:r>
          </a:p>
          <a:p>
            <a:pPr>
              <a:spcBef>
                <a:spcPts val="1000"/>
              </a:spcBef>
              <a:defRPr sz="1200" b="0">
                <a:solidFill>
                  <a:srgbClr val="6B7280"/>
                </a:solidFill>
                <a:latin typeface="Calibri"/>
              </a:defRPr>
            </a:pPr>
            <a:r>
              <a:t>✓  Receive direct calls without middlemen</a:t>
            </a:r>
          </a:p>
          <a:p>
            <a:pPr>
              <a:spcBef>
                <a:spcPts val="1000"/>
              </a:spcBef>
              <a:defRPr sz="1200" b="0">
                <a:solidFill>
                  <a:srgbClr val="6B7280"/>
                </a:solidFill>
                <a:latin typeface="Calibri"/>
              </a:defRPr>
            </a:pPr>
            <a:r>
              <a:t>✓  Edit profile and update availability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1A5C2E"/>
                </a:solidFill>
                <a:latin typeface="Calibri"/>
              </a:defRPr>
            </a:pPr>
            <a:r>
              <a:t>Technology Stack</a:t>
            </a:r>
          </a:p>
        </p:txBody>
      </p:sp>
      <p:sp>
        <p:nvSpPr>
          <p:cNvPr id="4" name="Rounded Rectangle 3"/>
          <p:cNvSpPr/>
          <p:nvPr/>
        </p:nvSpPr>
        <p:spPr>
          <a:xfrm>
            <a:off x="731520" y="1371600"/>
            <a:ext cx="5120640" cy="48463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4572000" cy="457200"/>
          </a:xfrm>
          <a:prstGeom prst="rect">
            <a:avLst/>
          </a:prstGeom>
          <a:noFill/>
        </p:spPr>
        <p:txBody>
          <a:bodyPr wrap="square">
            <a:spAutoFit/>
          </a:bodyPr>
          <a:lstStyle/>
          <a:p>
            <a:pPr algn="l">
              <a:defRPr sz="2200" b="1">
                <a:solidFill>
                  <a:srgbClr val="16A34A"/>
                </a:solidFill>
                <a:latin typeface="Calibri"/>
              </a:defRPr>
            </a:pPr>
            <a:r>
              <a:t>🖥️  Frontend</a:t>
            </a:r>
          </a:p>
        </p:txBody>
      </p:sp>
      <p:sp>
        <p:nvSpPr>
          <p:cNvPr id="6" name="TextBox 5"/>
          <p:cNvSpPr txBox="1"/>
          <p:nvPr/>
        </p:nvSpPr>
        <p:spPr>
          <a:xfrm>
            <a:off x="1097280" y="2194560"/>
            <a:ext cx="4389120" cy="3657600"/>
          </a:xfrm>
          <a:prstGeom prst="rect">
            <a:avLst/>
          </a:prstGeom>
          <a:noFill/>
        </p:spPr>
        <p:txBody>
          <a:bodyPr wrap="square">
            <a:spAutoFit/>
          </a:bodyPr>
          <a:lstStyle/>
          <a:p>
            <a:pPr algn="l">
              <a:defRPr sz="1200" b="0">
                <a:solidFill>
                  <a:srgbClr val="6B7280"/>
                </a:solidFill>
                <a:latin typeface="Calibri"/>
              </a:defRPr>
            </a:pPr>
          </a:p>
          <a:p>
            <a:pPr>
              <a:spcBef>
                <a:spcPts val="1200"/>
              </a:spcBef>
              <a:defRPr sz="1300" b="1">
                <a:solidFill>
                  <a:srgbClr val="1A1A2E"/>
                </a:solidFill>
                <a:latin typeface="Calibri"/>
              </a:defRPr>
            </a:pPr>
            <a:r>
              <a:t>  Framework</a:t>
            </a:r>
          </a:p>
          <a:p>
            <a:pPr>
              <a:spcBef>
                <a:spcPts val="200"/>
              </a:spcBef>
              <a:defRPr sz="1200" b="0">
                <a:solidFill>
                  <a:srgbClr val="6B7280"/>
                </a:solidFill>
                <a:latin typeface="Calibri"/>
              </a:defRPr>
            </a:pPr>
            <a:r>
              <a:t>    Next.js 14 (App Router) + React</a:t>
            </a:r>
          </a:p>
          <a:p>
            <a:pPr>
              <a:spcBef>
                <a:spcPts val="1200"/>
              </a:spcBef>
              <a:defRPr sz="1300" b="1">
                <a:solidFill>
                  <a:srgbClr val="1A1A2E"/>
                </a:solidFill>
                <a:latin typeface="Calibri"/>
              </a:defRPr>
            </a:pPr>
            <a:r>
              <a:t>  Styling</a:t>
            </a:r>
          </a:p>
          <a:p>
            <a:pPr>
              <a:spcBef>
                <a:spcPts val="200"/>
              </a:spcBef>
              <a:defRPr sz="1200" b="0">
                <a:solidFill>
                  <a:srgbClr val="6B7280"/>
                </a:solidFill>
                <a:latin typeface="Calibri"/>
              </a:defRPr>
            </a:pPr>
            <a:r>
              <a:t>    Custom Vanilla CSS (Glassmorphism Design System)</a:t>
            </a:r>
          </a:p>
          <a:p>
            <a:pPr>
              <a:spcBef>
                <a:spcPts val="1200"/>
              </a:spcBef>
              <a:defRPr sz="1300" b="1">
                <a:solidFill>
                  <a:srgbClr val="1A1A2E"/>
                </a:solidFill>
                <a:latin typeface="Calibri"/>
              </a:defRPr>
            </a:pPr>
            <a:r>
              <a:t>  Components</a:t>
            </a:r>
          </a:p>
          <a:p>
            <a:pPr>
              <a:spcBef>
                <a:spcPts val="200"/>
              </a:spcBef>
              <a:defRPr sz="1200" b="0">
                <a:solidFill>
                  <a:srgbClr val="6B7280"/>
                </a:solidFill>
                <a:latin typeface="Calibri"/>
              </a:defRPr>
            </a:pPr>
            <a:r>
              <a:t>    Custom Select, Date Picker, Animated Blobs, Sidebar</a:t>
            </a:r>
          </a:p>
          <a:p>
            <a:pPr>
              <a:spcBef>
                <a:spcPts val="1200"/>
              </a:spcBef>
              <a:defRPr sz="1300" b="1">
                <a:solidFill>
                  <a:srgbClr val="1A1A2E"/>
                </a:solidFill>
                <a:latin typeface="Calibri"/>
              </a:defRPr>
            </a:pPr>
            <a:r>
              <a:t>  Search</a:t>
            </a:r>
          </a:p>
          <a:p>
            <a:pPr>
              <a:spcBef>
                <a:spcPts val="200"/>
              </a:spcBef>
              <a:defRPr sz="1200" b="0">
                <a:solidFill>
                  <a:srgbClr val="6B7280"/>
                </a:solidFill>
                <a:latin typeface="Calibri"/>
              </a:defRPr>
            </a:pPr>
            <a:r>
              <a:t>    Intelligent keyword routing (NLP-lite)</a:t>
            </a:r>
          </a:p>
          <a:p>
            <a:pPr>
              <a:spcBef>
                <a:spcPts val="1200"/>
              </a:spcBef>
              <a:defRPr sz="1300" b="1">
                <a:solidFill>
                  <a:srgbClr val="1A1A2E"/>
                </a:solidFill>
                <a:latin typeface="Calibri"/>
              </a:defRPr>
            </a:pPr>
            <a:r>
              <a:t>  i18n</a:t>
            </a:r>
          </a:p>
          <a:p>
            <a:pPr>
              <a:spcBef>
                <a:spcPts val="200"/>
              </a:spcBef>
              <a:defRPr sz="1200" b="0">
                <a:solidFill>
                  <a:srgbClr val="6B7280"/>
                </a:solidFill>
                <a:latin typeface="Calibri"/>
              </a:defRPr>
            </a:pPr>
            <a:r>
              <a:t>    Google Translate DOM injection (9 languages)</a:t>
            </a:r>
          </a:p>
          <a:p>
            <a:pPr>
              <a:spcBef>
                <a:spcPts val="1200"/>
              </a:spcBef>
              <a:defRPr sz="1300" b="1">
                <a:solidFill>
                  <a:srgbClr val="1A1A2E"/>
                </a:solidFill>
                <a:latin typeface="Calibri"/>
              </a:defRPr>
            </a:pPr>
            <a:r>
              <a:t>  State</a:t>
            </a:r>
          </a:p>
          <a:p>
            <a:pPr>
              <a:spcBef>
                <a:spcPts val="200"/>
              </a:spcBef>
              <a:defRPr sz="1200" b="0">
                <a:solidFill>
                  <a:srgbClr val="6B7280"/>
                </a:solidFill>
                <a:latin typeface="Calibri"/>
              </a:defRPr>
            </a:pPr>
            <a:r>
              <a:t>    React Context API (RoleContext for auth)</a:t>
            </a:r>
          </a:p>
        </p:txBody>
      </p:sp>
      <p:sp>
        <p:nvSpPr>
          <p:cNvPr id="7" name="Rounded Rectangle 6"/>
          <p:cNvSpPr/>
          <p:nvPr/>
        </p:nvSpPr>
        <p:spPr>
          <a:xfrm>
            <a:off x="6217920" y="1371600"/>
            <a:ext cx="5303520" cy="48463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572000" cy="457200"/>
          </a:xfrm>
          <a:prstGeom prst="rect">
            <a:avLst/>
          </a:prstGeom>
          <a:noFill/>
        </p:spPr>
        <p:txBody>
          <a:bodyPr wrap="square">
            <a:spAutoFit/>
          </a:bodyPr>
          <a:lstStyle/>
          <a:p>
            <a:pPr algn="l">
              <a:defRPr sz="2200" b="1">
                <a:solidFill>
                  <a:srgbClr val="3B82F6"/>
                </a:solidFill>
                <a:latin typeface="Calibri"/>
              </a:defRPr>
            </a:pPr>
            <a:r>
              <a:t>⚙️  Backend &amp; AI</a:t>
            </a:r>
          </a:p>
        </p:txBody>
      </p:sp>
      <p:sp>
        <p:nvSpPr>
          <p:cNvPr id="9" name="TextBox 8"/>
          <p:cNvSpPr txBox="1"/>
          <p:nvPr/>
        </p:nvSpPr>
        <p:spPr>
          <a:xfrm>
            <a:off x="6583680" y="2194560"/>
            <a:ext cx="4572000" cy="3657600"/>
          </a:xfrm>
          <a:prstGeom prst="rect">
            <a:avLst/>
          </a:prstGeom>
          <a:noFill/>
        </p:spPr>
        <p:txBody>
          <a:bodyPr wrap="square">
            <a:spAutoFit/>
          </a:bodyPr>
          <a:lstStyle/>
          <a:p>
            <a:pPr algn="l">
              <a:defRPr sz="1200" b="0">
                <a:solidFill>
                  <a:srgbClr val="6B7280"/>
                </a:solidFill>
                <a:latin typeface="Calibri"/>
              </a:defRPr>
            </a:pPr>
          </a:p>
          <a:p>
            <a:pPr>
              <a:spcBef>
                <a:spcPts val="1200"/>
              </a:spcBef>
              <a:defRPr sz="1300" b="1">
                <a:solidFill>
                  <a:srgbClr val="1A1A2E"/>
                </a:solidFill>
                <a:latin typeface="Calibri"/>
              </a:defRPr>
            </a:pPr>
            <a:r>
              <a:t>  Framework</a:t>
            </a:r>
          </a:p>
          <a:p>
            <a:pPr>
              <a:spcBef>
                <a:spcPts val="200"/>
              </a:spcBef>
              <a:defRPr sz="1200" b="0">
                <a:solidFill>
                  <a:srgbClr val="6B7280"/>
                </a:solidFill>
                <a:latin typeface="Calibri"/>
              </a:defRPr>
            </a:pPr>
            <a:r>
              <a:t>    FastAPI (Python) with Uvicorn</a:t>
            </a:r>
          </a:p>
          <a:p>
            <a:pPr>
              <a:spcBef>
                <a:spcPts val="1200"/>
              </a:spcBef>
              <a:defRPr sz="1300" b="1">
                <a:solidFill>
                  <a:srgbClr val="1A1A2E"/>
                </a:solidFill>
                <a:latin typeface="Calibri"/>
              </a:defRPr>
            </a:pPr>
            <a:r>
              <a:t>  Database</a:t>
            </a:r>
          </a:p>
          <a:p>
            <a:pPr>
              <a:spcBef>
                <a:spcPts val="200"/>
              </a:spcBef>
              <a:defRPr sz="1200" b="0">
                <a:solidFill>
                  <a:srgbClr val="6B7280"/>
                </a:solidFill>
                <a:latin typeface="Calibri"/>
              </a:defRPr>
            </a:pPr>
            <a:r>
              <a:t>    SQLite (Equipment &amp; Workers tables)</a:t>
            </a:r>
          </a:p>
          <a:p>
            <a:pPr>
              <a:spcBef>
                <a:spcPts val="1200"/>
              </a:spcBef>
              <a:defRPr sz="1300" b="1">
                <a:solidFill>
                  <a:srgbClr val="1A1A2E"/>
                </a:solidFill>
                <a:latin typeface="Calibri"/>
              </a:defRPr>
            </a:pPr>
            <a:r>
              <a:t>  AI Engine</a:t>
            </a:r>
          </a:p>
          <a:p>
            <a:pPr>
              <a:spcBef>
                <a:spcPts val="200"/>
              </a:spcBef>
              <a:defRPr sz="1200" b="0">
                <a:solidFill>
                  <a:srgbClr val="6B7280"/>
                </a:solidFill>
                <a:latin typeface="Calibri"/>
              </a:defRPr>
            </a:pPr>
            <a:r>
              <a:t>    Google Gemini API (gemini-flash models)</a:t>
            </a:r>
          </a:p>
          <a:p>
            <a:pPr>
              <a:spcBef>
                <a:spcPts val="1200"/>
              </a:spcBef>
              <a:defRPr sz="1300" b="1">
                <a:solidFill>
                  <a:srgbClr val="1A1A2E"/>
                </a:solidFill>
                <a:latin typeface="Calibri"/>
              </a:defRPr>
            </a:pPr>
            <a:r>
              <a:t>  Fallback</a:t>
            </a:r>
          </a:p>
          <a:p>
            <a:pPr>
              <a:spcBef>
                <a:spcPts val="200"/>
              </a:spcBef>
              <a:defRPr sz="1200" b="0">
                <a:solidFill>
                  <a:srgbClr val="6B7280"/>
                </a:solidFill>
                <a:latin typeface="Calibri"/>
              </a:defRPr>
            </a:pPr>
            <a:r>
              <a:t>    Rule-based engine if LLM fails</a:t>
            </a:r>
          </a:p>
          <a:p>
            <a:pPr>
              <a:spcBef>
                <a:spcPts val="1200"/>
              </a:spcBef>
              <a:defRPr sz="1300" b="1">
                <a:solidFill>
                  <a:srgbClr val="1A1A2E"/>
                </a:solidFill>
                <a:latin typeface="Calibri"/>
              </a:defRPr>
            </a:pPr>
            <a:r>
              <a:t>  Caching</a:t>
            </a:r>
          </a:p>
          <a:p>
            <a:pPr>
              <a:spcBef>
                <a:spcPts val="200"/>
              </a:spcBef>
              <a:defRPr sz="1200" b="0">
                <a:solidFill>
                  <a:srgbClr val="6B7280"/>
                </a:solidFill>
                <a:latin typeface="Calibri"/>
              </a:defRPr>
            </a:pPr>
            <a:r>
              <a:t>    In-memory policy cache (reduces API costs)</a:t>
            </a:r>
          </a:p>
          <a:p>
            <a:pPr>
              <a:spcBef>
                <a:spcPts val="1200"/>
              </a:spcBef>
              <a:defRPr sz="1300" b="1">
                <a:solidFill>
                  <a:srgbClr val="1A1A2E"/>
                </a:solidFill>
                <a:latin typeface="Calibri"/>
              </a:defRPr>
            </a:pPr>
            <a:r>
              <a:t>  API Design</a:t>
            </a:r>
          </a:p>
          <a:p>
            <a:pPr>
              <a:spcBef>
                <a:spcPts val="200"/>
              </a:spcBef>
              <a:defRPr sz="1200" b="0">
                <a:solidFill>
                  <a:srgbClr val="6B7280"/>
                </a:solidFill>
                <a:latin typeface="Calibri"/>
              </a:defRPr>
            </a:pPr>
            <a:r>
              <a:t>    RESTful with v1 prefix + legacy aliases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640080"/>
          </a:xfrm>
          <a:prstGeom prst="rect">
            <a:avLst/>
          </a:prstGeom>
          <a:noFill/>
        </p:spPr>
        <p:txBody>
          <a:bodyPr wrap="square">
            <a:spAutoFit/>
          </a:bodyPr>
          <a:lstStyle/>
          <a:p>
            <a:pPr algn="l">
              <a:defRPr sz="3600" b="1">
                <a:solidFill>
                  <a:srgbClr val="1A5C2E"/>
                </a:solidFill>
                <a:latin typeface="Calibri"/>
              </a:defRPr>
            </a:pPr>
            <a:r>
              <a:t>Future Scope</a:t>
            </a:r>
          </a:p>
        </p:txBody>
      </p:sp>
      <p:sp>
        <p:nvSpPr>
          <p:cNvPr id="4" name="Rounded Rectangle 3"/>
          <p:cNvSpPr/>
          <p:nvPr/>
        </p:nvSpPr>
        <p:spPr>
          <a:xfrm>
            <a:off x="548640" y="12801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08760"/>
            <a:ext cx="548640" cy="54864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00" b="1">
                <a:solidFill>
                  <a:srgbClr val="FFFFFF"/>
                </a:solidFill>
                <a:latin typeface="Segoe UI Emoji"/>
              </a:defRPr>
            </a:pPr>
            <a:r>
              <a:t>📍</a:t>
            </a:r>
          </a:p>
        </p:txBody>
      </p:sp>
      <p:sp>
        <p:nvSpPr>
          <p:cNvPr id="6" name="TextBox 5"/>
          <p:cNvSpPr txBox="1"/>
          <p:nvPr/>
        </p:nvSpPr>
        <p:spPr>
          <a:xfrm>
            <a:off x="1280160" y="1554480"/>
            <a:ext cx="2560320" cy="457200"/>
          </a:xfrm>
          <a:prstGeom prst="rect">
            <a:avLst/>
          </a:prstGeom>
          <a:noFill/>
        </p:spPr>
        <p:txBody>
          <a:bodyPr wrap="square">
            <a:spAutoFit/>
          </a:bodyPr>
          <a:lstStyle/>
          <a:p>
            <a:pPr algn="l">
              <a:defRPr sz="1600" b="1">
                <a:solidFill>
                  <a:srgbClr val="1A1A2E"/>
                </a:solidFill>
                <a:latin typeface="Calibri"/>
              </a:defRPr>
            </a:pPr>
            <a:r>
              <a:t>GPS &amp; Map Integration</a:t>
            </a:r>
          </a:p>
        </p:txBody>
      </p:sp>
      <p:sp>
        <p:nvSpPr>
          <p:cNvPr id="7" name="TextBox 6"/>
          <p:cNvSpPr txBox="1"/>
          <p:nvPr/>
        </p:nvSpPr>
        <p:spPr>
          <a:xfrm>
            <a:off x="731520" y="2194560"/>
            <a:ext cx="3108960" cy="1371600"/>
          </a:xfrm>
          <a:prstGeom prst="rect">
            <a:avLst/>
          </a:prstGeom>
          <a:noFill/>
        </p:spPr>
        <p:txBody>
          <a:bodyPr wrap="square">
            <a:spAutoFit/>
          </a:bodyPr>
          <a:lstStyle/>
          <a:p>
            <a:pPr algn="l">
              <a:defRPr sz="1200" b="0">
                <a:solidFill>
                  <a:srgbClr val="6B7280"/>
                </a:solidFill>
                <a:latin typeface="Calibri"/>
              </a:defRPr>
            </a:pPr>
            <a:r>
              <a:t>Real-time distance calculation between</a:t>
            </a:r>
            <a:br/>
            <a:r>
              <a:t>farmers and vendors using geolocation.</a:t>
            </a:r>
            <a:br/>
            <a:r>
              <a:t>Map-based equipment tracking.</a:t>
            </a:r>
          </a:p>
        </p:txBody>
      </p:sp>
      <p:sp>
        <p:nvSpPr>
          <p:cNvPr id="8" name="Rounded Rectangle 7"/>
          <p:cNvSpPr/>
          <p:nvPr/>
        </p:nvSpPr>
        <p:spPr>
          <a:xfrm>
            <a:off x="4297679" y="12801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389119" y="150876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00" b="1">
                <a:solidFill>
                  <a:srgbClr val="FFFFFF"/>
                </a:solidFill>
                <a:latin typeface="Segoe UI Emoji"/>
              </a:defRPr>
            </a:pPr>
            <a:r>
              <a:t>💳</a:t>
            </a:r>
          </a:p>
        </p:txBody>
      </p:sp>
      <p:sp>
        <p:nvSpPr>
          <p:cNvPr id="10" name="TextBox 9"/>
          <p:cNvSpPr txBox="1"/>
          <p:nvPr/>
        </p:nvSpPr>
        <p:spPr>
          <a:xfrm>
            <a:off x="5029199" y="1554480"/>
            <a:ext cx="2560320" cy="457200"/>
          </a:xfrm>
          <a:prstGeom prst="rect">
            <a:avLst/>
          </a:prstGeom>
          <a:noFill/>
        </p:spPr>
        <p:txBody>
          <a:bodyPr wrap="square">
            <a:spAutoFit/>
          </a:bodyPr>
          <a:lstStyle/>
          <a:p>
            <a:pPr algn="l">
              <a:defRPr sz="1600" b="1">
                <a:solidFill>
                  <a:srgbClr val="1A1A2E"/>
                </a:solidFill>
                <a:latin typeface="Calibri"/>
              </a:defRPr>
            </a:pPr>
            <a:r>
              <a:t>Integrated Payments</a:t>
            </a:r>
          </a:p>
        </p:txBody>
      </p:sp>
      <p:sp>
        <p:nvSpPr>
          <p:cNvPr id="11" name="TextBox 10"/>
          <p:cNvSpPr txBox="1"/>
          <p:nvPr/>
        </p:nvSpPr>
        <p:spPr>
          <a:xfrm>
            <a:off x="4480559" y="2194560"/>
            <a:ext cx="3108960" cy="1371600"/>
          </a:xfrm>
          <a:prstGeom prst="rect">
            <a:avLst/>
          </a:prstGeom>
          <a:noFill/>
        </p:spPr>
        <p:txBody>
          <a:bodyPr wrap="square">
            <a:spAutoFit/>
          </a:bodyPr>
          <a:lstStyle/>
          <a:p>
            <a:pPr algn="l">
              <a:defRPr sz="1200" b="0">
                <a:solidFill>
                  <a:srgbClr val="6B7280"/>
                </a:solidFill>
                <a:latin typeface="Calibri"/>
              </a:defRPr>
            </a:pPr>
            <a:r>
              <a:t>Secure escrow-based rental payments.</a:t>
            </a:r>
            <a:br/>
            <a:r>
              <a:t>UPI / wallet integration for</a:t>
            </a:r>
            <a:br/>
            <a:r>
              <a:t>seamless transactions.</a:t>
            </a:r>
          </a:p>
        </p:txBody>
      </p:sp>
      <p:sp>
        <p:nvSpPr>
          <p:cNvPr id="12" name="Rounded Rectangle 11"/>
          <p:cNvSpPr/>
          <p:nvPr/>
        </p:nvSpPr>
        <p:spPr>
          <a:xfrm>
            <a:off x="8046718" y="12801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38158" y="1508760"/>
            <a:ext cx="548640" cy="5486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00" b="1">
                <a:solidFill>
                  <a:srgbClr val="FFFFFF"/>
                </a:solidFill>
                <a:latin typeface="Segoe UI Emoji"/>
              </a:defRPr>
            </a:pPr>
            <a:r>
              <a:t>📱</a:t>
            </a:r>
          </a:p>
        </p:txBody>
      </p:sp>
      <p:sp>
        <p:nvSpPr>
          <p:cNvPr id="14" name="TextBox 13"/>
          <p:cNvSpPr txBox="1"/>
          <p:nvPr/>
        </p:nvSpPr>
        <p:spPr>
          <a:xfrm>
            <a:off x="8778238" y="1554480"/>
            <a:ext cx="2560320" cy="457200"/>
          </a:xfrm>
          <a:prstGeom prst="rect">
            <a:avLst/>
          </a:prstGeom>
          <a:noFill/>
        </p:spPr>
        <p:txBody>
          <a:bodyPr wrap="square">
            <a:spAutoFit/>
          </a:bodyPr>
          <a:lstStyle/>
          <a:p>
            <a:pPr algn="l">
              <a:defRPr sz="1600" b="1">
                <a:solidFill>
                  <a:srgbClr val="1A1A2E"/>
                </a:solidFill>
                <a:latin typeface="Calibri"/>
              </a:defRPr>
            </a:pPr>
            <a:r>
              <a:t>Mobile Application</a:t>
            </a:r>
          </a:p>
        </p:txBody>
      </p:sp>
      <p:sp>
        <p:nvSpPr>
          <p:cNvPr id="15" name="TextBox 14"/>
          <p:cNvSpPr txBox="1"/>
          <p:nvPr/>
        </p:nvSpPr>
        <p:spPr>
          <a:xfrm>
            <a:off x="8229598" y="2194560"/>
            <a:ext cx="3108960" cy="1371600"/>
          </a:xfrm>
          <a:prstGeom prst="rect">
            <a:avLst/>
          </a:prstGeom>
          <a:noFill/>
        </p:spPr>
        <p:txBody>
          <a:bodyPr wrap="square">
            <a:spAutoFit/>
          </a:bodyPr>
          <a:lstStyle/>
          <a:p>
            <a:pPr algn="l">
              <a:defRPr sz="1200" b="0">
                <a:solidFill>
                  <a:srgbClr val="6B7280"/>
                </a:solidFill>
                <a:latin typeface="Calibri"/>
              </a:defRPr>
            </a:pPr>
            <a:r>
              <a:t>React Native app for low-end Android</a:t>
            </a:r>
            <a:br/>
            <a:r>
              <a:t>devices, optimized for rural connectivity</a:t>
            </a:r>
            <a:br/>
            <a:r>
              <a:t>and offline-first capabilities.</a:t>
            </a:r>
          </a:p>
        </p:txBody>
      </p:sp>
      <p:sp>
        <p:nvSpPr>
          <p:cNvPr id="16" name="Rounded Rectangle 15"/>
          <p:cNvSpPr/>
          <p:nvPr/>
        </p:nvSpPr>
        <p:spPr>
          <a:xfrm>
            <a:off x="548640" y="40233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251960"/>
            <a:ext cx="548640" cy="5486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00" b="1">
                <a:solidFill>
                  <a:srgbClr val="FFFFFF"/>
                </a:solidFill>
                <a:latin typeface="Segoe UI Emoji"/>
              </a:defRPr>
            </a:pPr>
            <a:r>
              <a:t>⭐</a:t>
            </a:r>
          </a:p>
        </p:txBody>
      </p:sp>
      <p:sp>
        <p:nvSpPr>
          <p:cNvPr id="18" name="TextBox 17"/>
          <p:cNvSpPr txBox="1"/>
          <p:nvPr/>
        </p:nvSpPr>
        <p:spPr>
          <a:xfrm>
            <a:off x="1280160" y="4297680"/>
            <a:ext cx="2560320" cy="457200"/>
          </a:xfrm>
          <a:prstGeom prst="rect">
            <a:avLst/>
          </a:prstGeom>
          <a:noFill/>
        </p:spPr>
        <p:txBody>
          <a:bodyPr wrap="square">
            <a:spAutoFit/>
          </a:bodyPr>
          <a:lstStyle/>
          <a:p>
            <a:pPr algn="l">
              <a:defRPr sz="1600" b="1">
                <a:solidFill>
                  <a:srgbClr val="1A1A2E"/>
                </a:solidFill>
                <a:latin typeface="Calibri"/>
              </a:defRPr>
            </a:pPr>
            <a:r>
              <a:t>Review &amp; Rating System</a:t>
            </a:r>
          </a:p>
        </p:txBody>
      </p:sp>
      <p:sp>
        <p:nvSpPr>
          <p:cNvPr id="19" name="TextBox 18"/>
          <p:cNvSpPr txBox="1"/>
          <p:nvPr/>
        </p:nvSpPr>
        <p:spPr>
          <a:xfrm>
            <a:off x="731520" y="4937760"/>
            <a:ext cx="3108960" cy="1371600"/>
          </a:xfrm>
          <a:prstGeom prst="rect">
            <a:avLst/>
          </a:prstGeom>
          <a:noFill/>
        </p:spPr>
        <p:txBody>
          <a:bodyPr wrap="square">
            <a:spAutoFit/>
          </a:bodyPr>
          <a:lstStyle/>
          <a:p>
            <a:pPr algn="l">
              <a:defRPr sz="1200" b="0">
                <a:solidFill>
                  <a:srgbClr val="6B7280"/>
                </a:solidFill>
                <a:latin typeface="Calibri"/>
              </a:defRPr>
            </a:pPr>
            <a:r>
              <a:t>Verified star ratings and reviews</a:t>
            </a:r>
            <a:br/>
            <a:r>
              <a:t>for vendors and workers, building</a:t>
            </a:r>
            <a:br/>
            <a:r>
              <a:t>trust and accountability.</a:t>
            </a:r>
          </a:p>
        </p:txBody>
      </p:sp>
      <p:sp>
        <p:nvSpPr>
          <p:cNvPr id="20" name="Rounded Rectangle 19"/>
          <p:cNvSpPr/>
          <p:nvPr/>
        </p:nvSpPr>
        <p:spPr>
          <a:xfrm>
            <a:off x="4297679" y="40233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389119" y="4251960"/>
            <a:ext cx="548640"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00" b="1">
                <a:solidFill>
                  <a:srgbClr val="FFFFFF"/>
                </a:solidFill>
                <a:latin typeface="Segoe UI Emoji"/>
              </a:defRPr>
            </a:pPr>
            <a:r>
              <a:t>🔔</a:t>
            </a:r>
          </a:p>
        </p:txBody>
      </p:sp>
      <p:sp>
        <p:nvSpPr>
          <p:cNvPr id="22" name="TextBox 21"/>
          <p:cNvSpPr txBox="1"/>
          <p:nvPr/>
        </p:nvSpPr>
        <p:spPr>
          <a:xfrm>
            <a:off x="5029199" y="4297680"/>
            <a:ext cx="2560320" cy="457200"/>
          </a:xfrm>
          <a:prstGeom prst="rect">
            <a:avLst/>
          </a:prstGeom>
          <a:noFill/>
        </p:spPr>
        <p:txBody>
          <a:bodyPr wrap="square">
            <a:spAutoFit/>
          </a:bodyPr>
          <a:lstStyle/>
          <a:p>
            <a:pPr algn="l">
              <a:defRPr sz="1600" b="1">
                <a:solidFill>
                  <a:srgbClr val="1A1A2E"/>
                </a:solidFill>
                <a:latin typeface="Calibri"/>
              </a:defRPr>
            </a:pPr>
            <a:r>
              <a:t>Push Notifications</a:t>
            </a:r>
          </a:p>
        </p:txBody>
      </p:sp>
      <p:sp>
        <p:nvSpPr>
          <p:cNvPr id="23" name="TextBox 22"/>
          <p:cNvSpPr txBox="1"/>
          <p:nvPr/>
        </p:nvSpPr>
        <p:spPr>
          <a:xfrm>
            <a:off x="4480559" y="4937760"/>
            <a:ext cx="3108960" cy="1371600"/>
          </a:xfrm>
          <a:prstGeom prst="rect">
            <a:avLst/>
          </a:prstGeom>
          <a:noFill/>
        </p:spPr>
        <p:txBody>
          <a:bodyPr wrap="square">
            <a:spAutoFit/>
          </a:bodyPr>
          <a:lstStyle/>
          <a:p>
            <a:pPr algn="l">
              <a:defRPr sz="1200" b="0">
                <a:solidFill>
                  <a:srgbClr val="6B7280"/>
                </a:solidFill>
                <a:latin typeface="Calibri"/>
              </a:defRPr>
            </a:pPr>
            <a:r>
              <a:t>Alert farmers about seasonal schemes,</a:t>
            </a:r>
            <a:br/>
            <a:r>
              <a:t>nearby equipment availability, and</a:t>
            </a:r>
            <a:br/>
            <a:r>
              <a:t>new worker registrations.</a:t>
            </a:r>
          </a:p>
        </p:txBody>
      </p:sp>
      <p:sp>
        <p:nvSpPr>
          <p:cNvPr id="24" name="Rounded Rectangle 23"/>
          <p:cNvSpPr/>
          <p:nvPr/>
        </p:nvSpPr>
        <p:spPr>
          <a:xfrm>
            <a:off x="8046718" y="4023360"/>
            <a:ext cx="3474720" cy="2468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38158" y="4251960"/>
            <a:ext cx="548640" cy="54864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00" b="1">
                <a:solidFill>
                  <a:srgbClr val="FFFFFF"/>
                </a:solidFill>
                <a:latin typeface="Segoe UI Emoji"/>
              </a:defRPr>
            </a:pPr>
            <a:r>
              <a:t>🔐</a:t>
            </a:r>
          </a:p>
        </p:txBody>
      </p:sp>
      <p:sp>
        <p:nvSpPr>
          <p:cNvPr id="26" name="TextBox 25"/>
          <p:cNvSpPr txBox="1"/>
          <p:nvPr/>
        </p:nvSpPr>
        <p:spPr>
          <a:xfrm>
            <a:off x="8778238" y="4297680"/>
            <a:ext cx="2560320" cy="457200"/>
          </a:xfrm>
          <a:prstGeom prst="rect">
            <a:avLst/>
          </a:prstGeom>
          <a:noFill/>
        </p:spPr>
        <p:txBody>
          <a:bodyPr wrap="square">
            <a:spAutoFit/>
          </a:bodyPr>
          <a:lstStyle/>
          <a:p>
            <a:pPr algn="l">
              <a:defRPr sz="1600" b="1">
                <a:solidFill>
                  <a:srgbClr val="1A1A2E"/>
                </a:solidFill>
                <a:latin typeface="Calibri"/>
              </a:defRPr>
            </a:pPr>
            <a:r>
              <a:t>Authentication &amp; Security</a:t>
            </a:r>
          </a:p>
        </p:txBody>
      </p:sp>
      <p:sp>
        <p:nvSpPr>
          <p:cNvPr id="27" name="TextBox 26"/>
          <p:cNvSpPr txBox="1"/>
          <p:nvPr/>
        </p:nvSpPr>
        <p:spPr>
          <a:xfrm>
            <a:off x="8229598" y="4937760"/>
            <a:ext cx="3108960" cy="1371600"/>
          </a:xfrm>
          <a:prstGeom prst="rect">
            <a:avLst/>
          </a:prstGeom>
          <a:noFill/>
        </p:spPr>
        <p:txBody>
          <a:bodyPr wrap="square">
            <a:spAutoFit/>
          </a:bodyPr>
          <a:lstStyle/>
          <a:p>
            <a:pPr algn="l">
              <a:defRPr sz="1200" b="0">
                <a:solidFill>
                  <a:srgbClr val="6B7280"/>
                </a:solidFill>
                <a:latin typeface="Calibri"/>
              </a:defRPr>
            </a:pPr>
            <a:r>
              <a:t>OTP-based login via Aadhaar/phone,</a:t>
            </a:r>
            <a:br/>
            <a:r>
              <a:t>role-verified profiles, and encrypted</a:t>
            </a:r>
            <a:br/>
            <a:r>
              <a:t>data storage for privacy.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5C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731520"/>
          </a:xfrm>
          <a:prstGeom prst="rect">
            <a:avLst/>
          </a:prstGeom>
          <a:noFill/>
        </p:spPr>
        <p:txBody>
          <a:bodyPr wrap="square">
            <a:spAutoFit/>
          </a:bodyPr>
          <a:lstStyle/>
          <a:p>
            <a:pPr algn="ctr">
              <a:defRPr sz="4000" b="1">
                <a:solidFill>
                  <a:srgbClr val="FFFFFF"/>
                </a:solidFill>
                <a:latin typeface="Calibri"/>
              </a:defRPr>
            </a:pPr>
            <a:r>
              <a:t>Conclusion</a:t>
            </a:r>
          </a:p>
        </p:txBody>
      </p:sp>
      <p:sp>
        <p:nvSpPr>
          <p:cNvPr id="4" name="TextBox 3"/>
          <p:cNvSpPr txBox="1"/>
          <p:nvPr/>
        </p:nvSpPr>
        <p:spPr>
          <a:xfrm>
            <a:off x="1828800" y="2103120"/>
            <a:ext cx="8503920" cy="2743200"/>
          </a:xfrm>
          <a:prstGeom prst="rect">
            <a:avLst/>
          </a:prstGeom>
          <a:noFill/>
        </p:spPr>
        <p:txBody>
          <a:bodyPr wrap="square">
            <a:spAutoFit/>
          </a:bodyPr>
          <a:lstStyle/>
          <a:p>
            <a:pPr algn="l">
              <a:defRPr sz="1800" b="0">
                <a:solidFill>
                  <a:srgbClr val="BBF7D0"/>
                </a:solidFill>
                <a:latin typeface="Calibri"/>
              </a:defRPr>
            </a:pPr>
          </a:p>
          <a:p>
            <a:pPr>
              <a:spcBef>
                <a:spcPts val="1600"/>
              </a:spcBef>
              <a:defRPr sz="1700" b="0">
                <a:solidFill>
                  <a:srgbClr val="D1FAE5"/>
                </a:solidFill>
                <a:latin typeface="Calibri"/>
              </a:defRPr>
            </a:pPr>
            <a:r>
              <a:t>✅  FarmConnect eliminates middlemen — farmers connect directly with vendors and workers.</a:t>
            </a:r>
          </a:p>
          <a:p>
            <a:pPr>
              <a:spcBef>
                <a:spcPts val="1600"/>
              </a:spcBef>
              <a:defRPr sz="1700" b="0">
                <a:solidFill>
                  <a:srgbClr val="D1FAE5"/>
                </a:solidFill>
                <a:latin typeface="Calibri"/>
              </a:defRPr>
            </a:pPr>
            <a:r>
              <a:t>✅  AI-powered policy matching ensures no farmer misses a scheme they qualify for.</a:t>
            </a:r>
          </a:p>
          <a:p>
            <a:pPr>
              <a:spcBef>
                <a:spcPts val="1600"/>
              </a:spcBef>
              <a:defRPr sz="1700" b="0">
                <a:solidFill>
                  <a:srgbClr val="D1FAE5"/>
                </a:solidFill>
                <a:latin typeface="Calibri"/>
              </a:defRPr>
            </a:pPr>
            <a:r>
              <a:t>✅  Multi-language support makes the platform accessible to all of India's farmers.</a:t>
            </a:r>
          </a:p>
          <a:p>
            <a:pPr>
              <a:spcBef>
                <a:spcPts val="1600"/>
              </a:spcBef>
              <a:defRPr sz="1700" b="0">
                <a:solidFill>
                  <a:srgbClr val="D1FAE5"/>
                </a:solidFill>
                <a:latin typeface="Calibri"/>
              </a:defRPr>
            </a:pPr>
            <a:r>
              <a:t>✅  A real, working product — live database, live AI, live translations.</a:t>
            </a:r>
          </a:p>
        </p:txBody>
      </p:sp>
      <p:sp>
        <p:nvSpPr>
          <p:cNvPr id="5" name="Rectangle 4"/>
          <p:cNvSpPr/>
          <p:nvPr/>
        </p:nvSpPr>
        <p:spPr>
          <a:xfrm>
            <a:off x="5029200" y="4937760"/>
            <a:ext cx="2103120" cy="25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212080"/>
            <a:ext cx="10058400" cy="73152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7" name="TextBox 6"/>
          <p:cNvSpPr txBox="1"/>
          <p:nvPr/>
        </p:nvSpPr>
        <p:spPr>
          <a:xfrm>
            <a:off x="914400" y="5943600"/>
            <a:ext cx="10058400" cy="457200"/>
          </a:xfrm>
          <a:prstGeom prst="rect">
            <a:avLst/>
          </a:prstGeom>
          <a:noFill/>
        </p:spPr>
        <p:txBody>
          <a:bodyPr wrap="square">
            <a:spAutoFit/>
          </a:bodyPr>
          <a:lstStyle/>
          <a:p>
            <a:pPr algn="ctr">
              <a:defRPr sz="1800" b="0">
                <a:solidFill>
                  <a:srgbClr val="86EFAC"/>
                </a:solidFill>
                <a:latin typeface="Calibri"/>
              </a:defRPr>
            </a:pPr>
            <a:r>
              <a:t>Team Tech-Vibe  •  Live Demo Available</a:t>
            </a:r>
          </a:p>
        </p:txBody>
      </p:sp>
      <p:sp>
        <p:nvSpPr>
          <p:cNvPr id="8" name="Rectangle 7"/>
          <p:cNvSpPr/>
          <p:nvPr/>
        </p:nvSpPr>
        <p:spPr>
          <a:xfrm>
            <a:off x="0" y="6803136"/>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